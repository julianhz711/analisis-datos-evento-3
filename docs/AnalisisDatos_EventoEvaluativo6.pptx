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a" id="{32ED5FBD-964D-6346-E406-9482B7D929F1}">
          <p14:sldIdLst>
            <p14:sldId id="256"/>
            <p14:sldId id="257"/>
            <p14:sldId id="258"/>
          </p14:sldIdLst>
        </p14:section>
        <p14:section name="Datos" id="{EA505937-C145-BC37-8BF1-4C1854EA4003}">
          <p14:sldIdLst>
            <p14:sldId id="259"/>
            <p14:sldId id="260"/>
          </p14:sldIdLst>
        </p14:section>
        <p14:section name="Hipótesis" id="{FF3A08E3-4A42-1FE5-4C03-31653B703163}">
          <p14:sldIdLst>
            <p14:sldId id="261"/>
            <p14:sldId id="262"/>
            <p14:sldId id="263"/>
          </p14:sldIdLst>
        </p14:section>
        <p14:section name="KPIs y dashboard" id="{D02BC95B-9EE8-92C1-EE5F-296D290832A6}">
          <p14:sldIdLst>
            <p14:sldId id="264"/>
            <p14:sldId id="265"/>
          </p14:sldIdLst>
        </p14:section>
        <p14:section name="Resultados" id="{970A182A-B6D6-7CEB-0F39-FE9132D0C340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recupera</c:v>
                </c:pt>
              </c:strCache>
            </c:strRef>
          </c:tx>
          <c:spPr>
            <a:solidFill>
              <a:srgbClr val="916313"/>
            </a:solidFill>
            <a:effectLst/>
          </c:spPr>
          <c:invertIfNegative val="0"/>
          <c:dLbls>
            <c:numFmt formatCode="0.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7324D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Hasta 15 M</c:v>
                </c:pt>
                <c:pt idx="1">
                  <c:v>15 a 30 M</c:v>
                </c:pt>
                <c:pt idx="2">
                  <c:v>30 a 62 M</c:v>
                </c:pt>
                <c:pt idx="3">
                  <c:v>Más de 62 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31.6</c:v>
                </c:pt>
                <c:pt idx="1">
                  <c:v>28.2</c:v>
                </c:pt>
                <c:pt idx="2">
                  <c:v>26.3</c:v>
                </c:pt>
                <c:pt idx="3">
                  <c:v>15.8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D1-477B-90E8-202606C199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657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Temporada alta / resto</c:v>
                </c:pt>
              </c:strCache>
            </c:strRef>
          </c:tx>
          <c:spPr>
            <a:solidFill>
              <a:srgbClr val="A0AE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DF3-459C-8074-85F5B01DA68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DF3-459C-8074-85F5B01DA685}"/>
              </c:ext>
            </c:extLst>
          </c:dPt>
          <c:dPt>
            <c:idx val="2"/>
            <c:invertIfNegative val="0"/>
            <c:bubble3D val="0"/>
            <c:spPr>
              <a:solidFill>
                <a:srgbClr val="08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F3-459C-8074-85F5B01DA685}"/>
              </c:ext>
            </c:extLst>
          </c:dPt>
          <c:dPt>
            <c:idx val="3"/>
            <c:invertIfNegative val="0"/>
            <c:bubble3D val="0"/>
            <c:spPr>
              <a:solidFill>
                <a:srgbClr val="08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F3-459C-8074-85F5B01DA685}"/>
              </c:ext>
            </c:extLst>
          </c:dPt>
          <c:dLbls>
            <c:numFmt formatCode="0.00&quot;x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7324D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Hasta 15 M
p = 0,470</c:v>
                </c:pt>
                <c:pt idx="1">
                  <c:v>15 a 30 M
p = 0,212</c:v>
                </c:pt>
                <c:pt idx="2">
                  <c:v>30 a 62 M
p = 0,002</c:v>
                </c:pt>
                <c:pt idx="3">
                  <c:v>Más de 62 M
p = 0,009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</c:v>
                </c:pt>
                <c:pt idx="1">
                  <c:v>1.1499999999999999</c:v>
                </c:pt>
                <c:pt idx="2">
                  <c:v>1.28</c:v>
                </c:pt>
                <c:pt idx="3">
                  <c:v>1.24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DF3-459C-8074-85F5B01DA6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657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rentables</c:v>
                </c:pt>
              </c:strCache>
            </c:strRef>
          </c:tx>
          <c:spPr>
            <a:solidFill>
              <a:srgbClr val="087F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903-4BAA-B8B3-9B049684FA2A}"/>
              </c:ext>
            </c:extLst>
          </c:dPt>
          <c:dPt>
            <c:idx val="1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03-4BAA-B8B3-9B049684FA2A}"/>
              </c:ext>
            </c:extLst>
          </c:dPt>
          <c:dPt>
            <c:idx val="2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03-4BAA-B8B3-9B049684FA2A}"/>
              </c:ext>
            </c:extLst>
          </c:dPt>
          <c:dPt>
            <c:idx val="3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903-4BAA-B8B3-9B049684FA2A}"/>
              </c:ext>
            </c:extLst>
          </c:dPt>
          <c:dPt>
            <c:idx val="4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903-4BAA-B8B3-9B049684FA2A}"/>
              </c:ext>
            </c:extLst>
          </c:dPt>
          <c:dPt>
            <c:idx val="5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903-4BAA-B8B3-9B049684FA2A}"/>
              </c:ext>
            </c:extLst>
          </c:dPt>
          <c:dPt>
            <c:idx val="6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903-4BAA-B8B3-9B049684FA2A}"/>
              </c:ext>
            </c:extLst>
          </c:dPt>
          <c:dPt>
            <c:idx val="7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903-4BAA-B8B3-9B049684FA2A}"/>
              </c:ext>
            </c:extLst>
          </c:dPt>
          <c:dPt>
            <c:idx val="8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903-4BAA-B8B3-9B049684FA2A}"/>
              </c:ext>
            </c:extLst>
          </c:dPt>
          <c:dPt>
            <c:idx val="9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903-4BAA-B8B3-9B049684FA2A}"/>
              </c:ext>
            </c:extLst>
          </c:dPt>
          <c:dPt>
            <c:idx val="10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9903-4BAA-B8B3-9B049684FA2A}"/>
              </c:ext>
            </c:extLst>
          </c:dPt>
          <c:dPt>
            <c:idx val="11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9903-4BAA-B8B3-9B049684FA2A}"/>
              </c:ext>
            </c:extLst>
          </c:dPt>
          <c:dLbls>
            <c:numFmt formatCode="0.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7324D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Terror</c:v>
                </c:pt>
                <c:pt idx="1">
                  <c:v>Animación</c:v>
                </c:pt>
                <c:pt idx="2">
                  <c:v>Aventura</c:v>
                </c:pt>
                <c:pt idx="3">
                  <c:v>Comedia</c:v>
                </c:pt>
                <c:pt idx="4">
                  <c:v>Fantasía</c:v>
                </c:pt>
                <c:pt idx="5">
                  <c:v>Ciencia ficción</c:v>
                </c:pt>
                <c:pt idx="6">
                  <c:v>Suspenso</c:v>
                </c:pt>
                <c:pt idx="7">
                  <c:v>Drama</c:v>
                </c:pt>
                <c:pt idx="8">
                  <c:v>Romance</c:v>
                </c:pt>
                <c:pt idx="9">
                  <c:v>Acción</c:v>
                </c:pt>
                <c:pt idx="10">
                  <c:v>Otros</c:v>
                </c:pt>
                <c:pt idx="11">
                  <c:v>Crimen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77.599999999999994</c:v>
                </c:pt>
                <c:pt idx="1">
                  <c:v>58.3</c:v>
                </c:pt>
                <c:pt idx="2">
                  <c:v>57.3</c:v>
                </c:pt>
                <c:pt idx="3">
                  <c:v>56.7</c:v>
                </c:pt>
                <c:pt idx="4">
                  <c:v>56.3</c:v>
                </c:pt>
                <c:pt idx="5">
                  <c:v>55.1</c:v>
                </c:pt>
                <c:pt idx="6">
                  <c:v>54.9</c:v>
                </c:pt>
                <c:pt idx="7">
                  <c:v>49.3</c:v>
                </c:pt>
                <c:pt idx="8">
                  <c:v>49</c:v>
                </c:pt>
                <c:pt idx="9">
                  <c:v>47.6</c:v>
                </c:pt>
                <c:pt idx="10">
                  <c:v>47.1</c:v>
                </c:pt>
                <c:pt idx="11">
                  <c:v>43.3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903-4BAA-B8B3-9B049684FA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57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recuperan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0F-460C-8AD7-616F5CE7BBC5}"/>
              </c:ext>
            </c:extLst>
          </c:dPt>
          <c:dPt>
            <c:idx val="1"/>
            <c:invertIfNegative val="0"/>
            <c:bubble3D val="0"/>
            <c:spPr>
              <a:solidFill>
                <a:srgbClr val="08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0F-460C-8AD7-616F5CE7BBC5}"/>
              </c:ext>
            </c:extLst>
          </c:dPt>
          <c:dPt>
            <c:idx val="2"/>
            <c:invertIfNegative val="0"/>
            <c:bubble3D val="0"/>
            <c:spPr>
              <a:solidFill>
                <a:srgbClr val="08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0F-460C-8AD7-616F5CE7BBC5}"/>
              </c:ext>
            </c:extLst>
          </c:dPt>
          <c:dPt>
            <c:idx val="3"/>
            <c:invertIfNegative val="0"/>
            <c:bubble3D val="0"/>
            <c:spPr>
              <a:solidFill>
                <a:srgbClr val="08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0F-460C-8AD7-616F5CE7BBC5}"/>
              </c:ext>
            </c:extLst>
          </c:dPt>
          <c:dPt>
            <c:idx val="4"/>
            <c:invertIfNegative val="0"/>
            <c:bubble3D val="0"/>
            <c:spPr>
              <a:solidFill>
                <a:srgbClr val="08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90F-460C-8AD7-616F5CE7BBC5}"/>
              </c:ext>
            </c:extLst>
          </c:dPt>
          <c:dPt>
            <c:idx val="5"/>
            <c:invertIfNegative val="0"/>
            <c:bubble3D val="0"/>
            <c:spPr>
              <a:solidFill>
                <a:srgbClr val="08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90F-460C-8AD7-616F5CE7BBC5}"/>
              </c:ext>
            </c:extLst>
          </c:dPt>
          <c:dLbls>
            <c:numFmt formatCode="0.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7324D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 de
25 a 35 M</c:v>
                </c:pt>
                <c:pt idx="1">
                  <c:v>1 de
5 a 10 M</c:v>
                </c:pt>
                <c:pt idx="2">
                  <c:v>2 de
5 a 10 M</c:v>
                </c:pt>
                <c:pt idx="3">
                  <c:v>3 de
5 a 10 M</c:v>
                </c:pt>
                <c:pt idx="4">
                  <c:v>4 de
5 a 10 M</c:v>
                </c:pt>
                <c:pt idx="5">
                  <c:v>6 de
5 a 10 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26.6</c:v>
                </c:pt>
                <c:pt idx="1">
                  <c:v>35</c:v>
                </c:pt>
                <c:pt idx="2">
                  <c:v>19.3</c:v>
                </c:pt>
                <c:pt idx="3">
                  <c:v>11.8</c:v>
                </c:pt>
                <c:pt idx="4">
                  <c:v>7.5</c:v>
                </c:pt>
                <c:pt idx="5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90F-460C-8AD7-616F5CE7BB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57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092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17320"/>
            <a:ext cx="7223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6327648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dirty="0">
                <a:solidFill>
                  <a:schemeClr val="tx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6327648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dirty="0">
                <a:solidFill>
                  <a:schemeClr val="accent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17320"/>
            <a:ext cx="7223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¿En qué películas debería invertir una productora con poca plata?</a:t>
            </a:r>
            <a:endParaRPr lang="en-US" sz="4000" dirty="0"/>
          </a:p>
        </p:txBody>
      </p:sp>
      <p:sp>
        <p:nvSpPr>
          <p:cNvPr id="4" name="Curso"/>
          <p:cNvSpPr txBox="1"/>
          <p:nvPr/>
        </p:nvSpPr>
        <p:spPr>
          <a:xfrm>
            <a:off x="731520" y="8229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Análisis de Datos · Evento evaluativo 3 · Equipo 6</a:t>
            </a:r>
            <a:endParaRPr lang="en-US" sz="1500" dirty="0"/>
          </a:p>
        </p:txBody>
      </p:sp>
      <p:sp>
        <p:nvSpPr>
          <p:cNvPr id="5" name="Subtítulo"/>
          <p:cNvSpPr txBox="1"/>
          <p:nvPr/>
        </p:nvSpPr>
        <p:spPr>
          <a:xfrm>
            <a:off x="731520" y="3703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accent6"/>
                </a:solidFill>
              </a:rPr>
              <a:t>Business Intelligence con el TMDB 5000: hipótesis, KPIs y un dashboard en Power BI</a:t>
            </a:r>
            <a:endParaRPr lang="en-US" sz="1900" dirty="0"/>
          </a:p>
        </p:txBody>
      </p:sp>
      <p:sp>
        <p:nvSpPr>
          <p:cNvPr id="6" name="Integrantes"/>
          <p:cNvSpPr txBox="1"/>
          <p:nvPr/>
        </p:nvSpPr>
        <p:spPr>
          <a:xfrm>
            <a:off x="723499" y="4526280"/>
            <a:ext cx="7223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Julián Zapata Gutierrez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Santiago Villada Arboleda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Oscar Alexis Pineda Henao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Jacobo Osorio Zapata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Institución"/>
          <p:cNvSpPr txBox="1"/>
          <p:nvPr/>
        </p:nvSpPr>
        <p:spPr>
          <a:xfrm>
            <a:off x="731520" y="5806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ITM · Ingeniería de Sistemas · Docente: Daniel Alexis Nieto Mora · 2026-2</a:t>
            </a:r>
            <a:endParaRPr lang="en-US" sz="1300" dirty="0"/>
          </a:p>
        </p:txBody>
      </p:sp>
      <p:sp>
        <p:nvSpPr>
          <p:cNvPr id="8" name="Cifra 1"/>
          <p:cNvSpPr/>
          <p:nvPr/>
        </p:nvSpPr>
        <p:spPr>
          <a:xfrm>
            <a:off x="8549640" y="914400"/>
            <a:ext cx="3063240" cy="1463040"/>
          </a:xfrm>
          <a:prstGeom prst="roundRect">
            <a:avLst>
              <a:gd name="adj" fmla="val 87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Cifra 1 valor"/>
          <p:cNvSpPr txBox="1"/>
          <p:nvPr/>
        </p:nvSpPr>
        <p:spPr>
          <a:xfrm>
            <a:off x="8823960" y="1097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4.803</a:t>
            </a:r>
            <a:endParaRPr lang="en-US" sz="4000" dirty="0"/>
          </a:p>
        </p:txBody>
      </p:sp>
      <p:sp>
        <p:nvSpPr>
          <p:cNvPr id="10" name="Cifra 1 etiqueta"/>
          <p:cNvSpPr txBox="1"/>
          <p:nvPr/>
        </p:nvSpPr>
        <p:spPr>
          <a:xfrm>
            <a:off x="8823960" y="1810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películas de TMDB</a:t>
            </a:r>
            <a:endParaRPr lang="en-US" sz="1500" dirty="0"/>
          </a:p>
        </p:txBody>
      </p:sp>
      <p:sp>
        <p:nvSpPr>
          <p:cNvPr id="11" name="Cifra 2"/>
          <p:cNvSpPr/>
          <p:nvPr/>
        </p:nvSpPr>
        <p:spPr>
          <a:xfrm>
            <a:off x="8549640" y="2606040"/>
            <a:ext cx="3063240" cy="1463040"/>
          </a:xfrm>
          <a:prstGeom prst="roundRect">
            <a:avLst>
              <a:gd name="adj" fmla="val 87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Cifra 2 valor"/>
          <p:cNvSpPr txBox="1"/>
          <p:nvPr/>
        </p:nvSpPr>
        <p:spPr>
          <a:xfrm>
            <a:off x="8823960" y="27889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Cifra 2 etiqueta"/>
          <p:cNvSpPr txBox="1"/>
          <p:nvPr/>
        </p:nvSpPr>
        <p:spPr>
          <a:xfrm>
            <a:off x="8823960" y="3502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hipótesis probadas</a:t>
            </a:r>
            <a:endParaRPr lang="en-US" sz="1500" dirty="0"/>
          </a:p>
        </p:txBody>
      </p:sp>
      <p:sp>
        <p:nvSpPr>
          <p:cNvPr id="14" name="Cifra 3"/>
          <p:cNvSpPr/>
          <p:nvPr/>
        </p:nvSpPr>
        <p:spPr>
          <a:xfrm>
            <a:off x="8549640" y="4297680"/>
            <a:ext cx="3063240" cy="1463040"/>
          </a:xfrm>
          <a:prstGeom prst="roundRect">
            <a:avLst>
              <a:gd name="adj" fmla="val 87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Cifra 3 valor"/>
          <p:cNvSpPr txBox="1"/>
          <p:nvPr/>
        </p:nvSpPr>
        <p:spPr>
          <a:xfrm>
            <a:off x="8823960" y="4480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4000" dirty="0"/>
          </a:p>
        </p:txBody>
      </p:sp>
      <p:sp>
        <p:nvSpPr>
          <p:cNvPr id="16" name="Cifra 3 etiqueta"/>
          <p:cNvSpPr txBox="1"/>
          <p:nvPr/>
        </p:nvSpPr>
        <p:spPr>
          <a:xfrm>
            <a:off x="8823960" y="5193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KPIs en Power BI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cine es un negocio de alto riesgo</a:t>
            </a:r>
            <a:endParaRPr lang="en-US" sz="3000" dirty="0"/>
          </a:p>
        </p:txBody>
      </p:sp>
      <p:sp>
        <p:nvSpPr>
          <p:cNvPr id="5" name="Dato 1"/>
          <p:cNvSpPr/>
          <p:nvPr/>
        </p:nvSpPr>
        <p:spPr>
          <a:xfrm>
            <a:off x="548640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Dato 1 valor"/>
          <p:cNvSpPr txBox="1"/>
          <p:nvPr/>
        </p:nvSpPr>
        <p:spPr>
          <a:xfrm>
            <a:off x="822960" y="1673352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24 %</a:t>
            </a:r>
            <a:endParaRPr lang="en-US" sz="5400" dirty="0"/>
          </a:p>
        </p:txBody>
      </p:sp>
      <p:sp>
        <p:nvSpPr>
          <p:cNvPr id="7" name="Dato 1 etiqueta"/>
          <p:cNvSpPr txBox="1"/>
          <p:nvPr/>
        </p:nvSpPr>
        <p:spPr>
          <a:xfrm>
            <a:off x="822960" y="2660904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no recuperó en taquilla lo que costó</a:t>
            </a:r>
            <a:endParaRPr lang="en-US" sz="1500" dirty="0"/>
          </a:p>
        </p:txBody>
      </p:sp>
      <p:sp>
        <p:nvSpPr>
          <p:cNvPr id="8" name="Dato 2"/>
          <p:cNvSpPr/>
          <p:nvPr/>
        </p:nvSpPr>
        <p:spPr>
          <a:xfrm>
            <a:off x="4338218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Dato 2 valor"/>
          <p:cNvSpPr txBox="1"/>
          <p:nvPr/>
        </p:nvSpPr>
        <p:spPr>
          <a:xfrm>
            <a:off x="4612538" y="1673352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56 %</a:t>
            </a:r>
            <a:endParaRPr lang="en-US" sz="5400" dirty="0"/>
          </a:p>
        </p:txBody>
      </p:sp>
      <p:sp>
        <p:nvSpPr>
          <p:cNvPr id="10" name="Dato 2 etiqueta"/>
          <p:cNvSpPr txBox="1"/>
          <p:nvPr/>
        </p:nvSpPr>
        <p:spPr>
          <a:xfrm>
            <a:off x="4612538" y="2660904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recaudó al menos el doble de su presupuesto</a:t>
            </a:r>
            <a:endParaRPr lang="en-US" sz="1500" dirty="0"/>
          </a:p>
        </p:txBody>
      </p:sp>
      <p:sp>
        <p:nvSpPr>
          <p:cNvPr id="11" name="Dato 3"/>
          <p:cNvSpPr/>
          <p:nvPr/>
        </p:nvSpPr>
        <p:spPr>
          <a:xfrm>
            <a:off x="8127797" y="141732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Dato 3 valor"/>
          <p:cNvSpPr txBox="1"/>
          <p:nvPr/>
        </p:nvSpPr>
        <p:spPr>
          <a:xfrm>
            <a:off x="8402117" y="1673352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46,5 %</a:t>
            </a:r>
            <a:endParaRPr lang="en-US" sz="5400" dirty="0"/>
          </a:p>
        </p:txBody>
      </p:sp>
      <p:sp>
        <p:nvSpPr>
          <p:cNvPr id="13" name="Dato 3 etiqueta"/>
          <p:cNvSpPr txBox="1"/>
          <p:nvPr/>
        </p:nvSpPr>
        <p:spPr>
          <a:xfrm>
            <a:off x="8402117" y="2660904"/>
            <a:ext cx="296661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 toda la recaudación se la llevó el 10 % más taquillero</a:t>
            </a:r>
            <a:endParaRPr lang="en-US" sz="1500" dirty="0"/>
          </a:p>
        </p:txBody>
      </p:sp>
      <p:sp>
        <p:nvSpPr>
          <p:cNvPr id="14" name="Base"/>
          <p:cNvSpPr txBox="1"/>
          <p:nvPr/>
        </p:nvSpPr>
        <p:spPr>
          <a:xfrm>
            <a:off x="548640" y="3611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3.204 películas con presupuesto y recaudación confiables</a:t>
            </a:r>
            <a:endParaRPr lang="en-US" sz="1200" dirty="0"/>
          </a:p>
        </p:txBody>
      </p:sp>
      <p:sp>
        <p:nvSpPr>
          <p:cNvPr id="15" name="Decisiones título"/>
          <p:cNvSpPr txBox="1"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Una productora con poca plata tiene que decidir</a:t>
            </a:r>
            <a:endParaRPr lang="en-US" sz="1800" dirty="0"/>
          </a:p>
        </p:txBody>
      </p:sp>
      <p:sp>
        <p:nvSpPr>
          <p:cNvPr id="16" name="Decisión 1"/>
          <p:cNvSpPr/>
          <p:nvPr/>
        </p:nvSpPr>
        <p:spPr>
          <a:xfrm>
            <a:off x="548640" y="457200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Decisión 1 círculo"/>
          <p:cNvSpPr/>
          <p:nvPr/>
        </p:nvSpPr>
        <p:spPr>
          <a:xfrm>
            <a:off x="822960" y="4956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Decisión 1 número"/>
          <p:cNvSpPr txBox="1"/>
          <p:nvPr/>
        </p:nvSpPr>
        <p:spPr>
          <a:xfrm>
            <a:off x="822960" y="4956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Decisión 1 pregunta"/>
          <p:cNvSpPr txBox="1"/>
          <p:nvPr/>
        </p:nvSpPr>
        <p:spPr>
          <a:xfrm>
            <a:off x="1600200" y="4828032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¿Cuánto invertir?</a:t>
            </a:r>
            <a:endParaRPr lang="en-US" sz="1900" dirty="0"/>
          </a:p>
        </p:txBody>
      </p:sp>
      <p:sp>
        <p:nvSpPr>
          <p:cNvPr id="20" name="Decisión 1 detalle"/>
          <p:cNvSpPr txBox="1"/>
          <p:nvPr/>
        </p:nvSpPr>
        <p:spPr>
          <a:xfrm>
            <a:off x="1600200" y="5266944"/>
            <a:ext cx="2235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presupuesto por película</a:t>
            </a:r>
            <a:endParaRPr lang="en-US" sz="1400" dirty="0"/>
          </a:p>
        </p:txBody>
      </p:sp>
      <p:sp>
        <p:nvSpPr>
          <p:cNvPr id="21" name="Decisión 2"/>
          <p:cNvSpPr/>
          <p:nvPr/>
        </p:nvSpPr>
        <p:spPr>
          <a:xfrm>
            <a:off x="4338218" y="457200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Decisión 2 círculo"/>
          <p:cNvSpPr/>
          <p:nvPr/>
        </p:nvSpPr>
        <p:spPr>
          <a:xfrm>
            <a:off x="4612538" y="4956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Decisión 2 número"/>
          <p:cNvSpPr txBox="1"/>
          <p:nvPr/>
        </p:nvSpPr>
        <p:spPr>
          <a:xfrm>
            <a:off x="4612538" y="4956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24" name="Decisión 2 pregunta"/>
          <p:cNvSpPr txBox="1"/>
          <p:nvPr/>
        </p:nvSpPr>
        <p:spPr>
          <a:xfrm>
            <a:off x="5389778" y="4828032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¿Cuándo estrenar?</a:t>
            </a:r>
            <a:endParaRPr lang="en-US" sz="1900" dirty="0"/>
          </a:p>
        </p:txBody>
      </p:sp>
      <p:sp>
        <p:nvSpPr>
          <p:cNvPr id="25" name="Decisión 2 detalle"/>
          <p:cNvSpPr txBox="1"/>
          <p:nvPr/>
        </p:nvSpPr>
        <p:spPr>
          <a:xfrm>
            <a:off x="5389778" y="5266944"/>
            <a:ext cx="2235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temporada alta o resto del año</a:t>
            </a:r>
            <a:endParaRPr lang="en-US" sz="1400" dirty="0"/>
          </a:p>
        </p:txBody>
      </p:sp>
      <p:sp>
        <p:nvSpPr>
          <p:cNvPr id="26" name="Decisión 3"/>
          <p:cNvSpPr/>
          <p:nvPr/>
        </p:nvSpPr>
        <p:spPr>
          <a:xfrm>
            <a:off x="8127797" y="4572000"/>
            <a:ext cx="3515258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Decisión 3 círculo"/>
          <p:cNvSpPr/>
          <p:nvPr/>
        </p:nvSpPr>
        <p:spPr>
          <a:xfrm>
            <a:off x="8402117" y="4956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Decisión 3 número"/>
          <p:cNvSpPr txBox="1"/>
          <p:nvPr/>
        </p:nvSpPr>
        <p:spPr>
          <a:xfrm>
            <a:off x="8402117" y="4956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9" name="Decisión 3 pregunta"/>
          <p:cNvSpPr txBox="1"/>
          <p:nvPr/>
        </p:nvSpPr>
        <p:spPr>
          <a:xfrm>
            <a:off x="9179357" y="4828032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¿Qué género hacer?</a:t>
            </a:r>
            <a:endParaRPr lang="en-US" sz="1900" dirty="0"/>
          </a:p>
        </p:txBody>
      </p:sp>
      <p:sp>
        <p:nvSpPr>
          <p:cNvPr id="30" name="Decisión 3 detalle"/>
          <p:cNvSpPr txBox="1"/>
          <p:nvPr/>
        </p:nvSpPr>
        <p:spPr>
          <a:xfrm>
            <a:off x="9179357" y="5266944"/>
            <a:ext cx="2235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géneros principales agrupados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2" name="Marcador de texto 31">
            <a:extLst>
              <a:ext uri="{FF2B5EF4-FFF2-40B4-BE49-F238E27FC236}">
                <a16:creationId xmlns:a16="http://schemas.microsoft.com/office/drawing/2014/main" id="{9327F5C8-6C27-C528-9B8B-A2AB12CD7C71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Tres decisiones, tres preguntas, tres hipótesis</a:t>
            </a:r>
            <a:endParaRPr lang="en-US" sz="3000" dirty="0"/>
          </a:p>
        </p:txBody>
      </p:sp>
      <p:sp>
        <p:nvSpPr>
          <p:cNvPr id="5" name="Encabezado pregunta"/>
          <p:cNvSpPr txBox="1"/>
          <p:nvPr/>
        </p:nvSpPr>
        <p:spPr>
          <a:xfrm>
            <a:off x="160020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Pregunta</a:t>
            </a:r>
            <a:endParaRPr lang="en-US" sz="1200" dirty="0"/>
          </a:p>
        </p:txBody>
      </p:sp>
      <p:sp>
        <p:nvSpPr>
          <p:cNvPr id="6" name="Encabezado hipótesis"/>
          <p:cNvSpPr txBox="1"/>
          <p:nvPr/>
        </p:nvSpPr>
        <p:spPr>
          <a:xfrm>
            <a:off x="580644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Hipótesis nula y alternativa</a:t>
            </a:r>
            <a:endParaRPr lang="en-US" sz="1200" dirty="0"/>
          </a:p>
        </p:txBody>
      </p:sp>
      <p:sp>
        <p:nvSpPr>
          <p:cNvPr id="7" name="Encabezado prueba"/>
          <p:cNvSpPr txBox="1"/>
          <p:nvPr/>
        </p:nvSpPr>
        <p:spPr>
          <a:xfrm>
            <a:off x="9464040" y="1298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Prueba (α = 0,05)</a:t>
            </a:r>
            <a:endParaRPr lang="en-US" sz="1200" dirty="0"/>
          </a:p>
        </p:txBody>
      </p:sp>
      <p:sp>
        <p:nvSpPr>
          <p:cNvPr id="8" name="Hipótesis 1"/>
          <p:cNvSpPr/>
          <p:nvPr/>
        </p:nvSpPr>
        <p:spPr>
          <a:xfrm>
            <a:off x="548640" y="1645920"/>
            <a:ext cx="11094415" cy="1170432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Hipótesis 1 círculo"/>
          <p:cNvSpPr/>
          <p:nvPr/>
        </p:nvSpPr>
        <p:spPr>
          <a:xfrm>
            <a:off x="804672" y="1929384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Hipótesis 1 número"/>
          <p:cNvSpPr txBox="1"/>
          <p:nvPr/>
        </p:nvSpPr>
        <p:spPr>
          <a:xfrm>
            <a:off x="804672" y="19293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H1</a:t>
            </a:r>
            <a:endParaRPr lang="en-US" sz="2000" dirty="0"/>
          </a:p>
        </p:txBody>
      </p:sp>
      <p:sp>
        <p:nvSpPr>
          <p:cNvPr id="11" name="Hipótesis 1 pregunta"/>
          <p:cNvSpPr txBox="1"/>
          <p:nvPr/>
        </p:nvSpPr>
        <p:spPr>
          <a:xfrm>
            <a:off x="1600200" y="182880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¿Más presupuesto rinde más por cada dólar?</a:t>
            </a:r>
            <a:endParaRPr lang="en-US" sz="1700" dirty="0"/>
          </a:p>
        </p:txBody>
      </p:sp>
      <p:sp>
        <p:nvSpPr>
          <p:cNvPr id="12" name="Hipótesis 1 H0 y H1"/>
          <p:cNvSpPr txBox="1"/>
          <p:nvPr/>
        </p:nvSpPr>
        <p:spPr>
          <a:xfrm>
            <a:off x="5806440" y="17830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H0: ρ = 0 entre presupuesto y multiplicador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H1: ρ ≠ 0</a:t>
            </a:r>
            <a:endParaRPr lang="en-US" sz="1350" dirty="0"/>
          </a:p>
        </p:txBody>
      </p:sp>
      <p:sp>
        <p:nvSpPr>
          <p:cNvPr id="13" name="Hipótesis 1 prueba"/>
          <p:cNvSpPr txBox="1"/>
          <p:nvPr/>
        </p:nvSpPr>
        <p:spPr>
          <a:xfrm>
            <a:off x="9464040" y="1828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Spearman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relación no lineal y valores extremos</a:t>
            </a:r>
            <a:endParaRPr lang="en-US" sz="1500" dirty="0"/>
          </a:p>
        </p:txBody>
      </p:sp>
      <p:sp>
        <p:nvSpPr>
          <p:cNvPr id="14" name="Hipótesis 2"/>
          <p:cNvSpPr/>
          <p:nvPr/>
        </p:nvSpPr>
        <p:spPr>
          <a:xfrm>
            <a:off x="548640" y="2953512"/>
            <a:ext cx="11094415" cy="1170432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Hipótesis 2 círculo"/>
          <p:cNvSpPr/>
          <p:nvPr/>
        </p:nvSpPr>
        <p:spPr>
          <a:xfrm>
            <a:off x="804672" y="3236976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Hipótesis 2 número"/>
          <p:cNvSpPr txBox="1"/>
          <p:nvPr/>
        </p:nvSpPr>
        <p:spPr>
          <a:xfrm>
            <a:off x="804672" y="32369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H2</a:t>
            </a:r>
            <a:endParaRPr lang="en-US" sz="2000" dirty="0"/>
          </a:p>
        </p:txBody>
      </p:sp>
      <p:sp>
        <p:nvSpPr>
          <p:cNvPr id="17" name="Hipótesis 2 pregunta"/>
          <p:cNvSpPr txBox="1"/>
          <p:nvPr/>
        </p:nvSpPr>
        <p:spPr>
          <a:xfrm>
            <a:off x="1600200" y="313639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¿Estrenar en temporada alta mejora el retorno?</a:t>
            </a:r>
            <a:endParaRPr lang="en-US" sz="1700" dirty="0"/>
          </a:p>
        </p:txBody>
      </p:sp>
      <p:sp>
        <p:nvSpPr>
          <p:cNvPr id="18" name="Hipótesis 2 H0 y H1"/>
          <p:cNvSpPr txBox="1"/>
          <p:nvPr/>
        </p:nvSpPr>
        <p:spPr>
          <a:xfrm>
            <a:off x="5806440" y="309067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H0: el log10 del multiplicador tiene la misma media en temporada alta y en el resto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H1: las medias son distintas</a:t>
            </a:r>
            <a:endParaRPr lang="en-US" sz="1350" dirty="0"/>
          </a:p>
        </p:txBody>
      </p:sp>
      <p:sp>
        <p:nvSpPr>
          <p:cNvPr id="19" name="Hipótesis 2 prueba"/>
          <p:cNvSpPr txBox="1"/>
          <p:nvPr/>
        </p:nvSpPr>
        <p:spPr>
          <a:xfrm>
            <a:off x="9464040" y="313639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 de Welch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multiplicador muy sesgado</a:t>
            </a:r>
            <a:endParaRPr lang="en-US" sz="1500" dirty="0"/>
          </a:p>
        </p:txBody>
      </p:sp>
      <p:sp>
        <p:nvSpPr>
          <p:cNvPr id="20" name="Hipótesis 3"/>
          <p:cNvSpPr/>
          <p:nvPr/>
        </p:nvSpPr>
        <p:spPr>
          <a:xfrm>
            <a:off x="548640" y="4261104"/>
            <a:ext cx="11094415" cy="1170432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Hipótesis 3 círculo"/>
          <p:cNvSpPr/>
          <p:nvPr/>
        </p:nvSpPr>
        <p:spPr>
          <a:xfrm>
            <a:off x="804672" y="454456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Hipótesis 3 número"/>
          <p:cNvSpPr txBox="1"/>
          <p:nvPr/>
        </p:nvSpPr>
        <p:spPr>
          <a:xfrm>
            <a:off x="804672" y="4544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H3</a:t>
            </a:r>
            <a:endParaRPr lang="en-US" sz="2000" dirty="0"/>
          </a:p>
        </p:txBody>
      </p:sp>
      <p:sp>
        <p:nvSpPr>
          <p:cNvPr id="23" name="Hipótesis 3 pregunta"/>
          <p:cNvSpPr txBox="1"/>
          <p:nvPr/>
        </p:nvSpPr>
        <p:spPr>
          <a:xfrm>
            <a:off x="1600200" y="444398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¿El género influye en que una película sea rentable?</a:t>
            </a:r>
            <a:endParaRPr lang="en-US" sz="1700" dirty="0"/>
          </a:p>
        </p:txBody>
      </p:sp>
      <p:sp>
        <p:nvSpPr>
          <p:cNvPr id="24" name="Hipótesis 3 H0 y H1"/>
          <p:cNvSpPr txBox="1"/>
          <p:nvPr/>
        </p:nvSpPr>
        <p:spPr>
          <a:xfrm>
            <a:off x="5806440" y="43982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H0: género y rentable son independientes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H1: están asociados</a:t>
            </a:r>
            <a:endParaRPr lang="en-US" sz="1350" dirty="0"/>
          </a:p>
        </p:txBody>
      </p:sp>
      <p:sp>
        <p:nvSpPr>
          <p:cNvPr id="25" name="Hipótesis 3 prueba"/>
          <p:cNvSpPr txBox="1"/>
          <p:nvPr/>
        </p:nvSpPr>
        <p:spPr>
          <a:xfrm>
            <a:off x="9464040" y="444398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Chi-cuadrado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dos variables categóricas</a:t>
            </a:r>
            <a:endParaRPr lang="en-US" sz="1500" dirty="0"/>
          </a:p>
        </p:txBody>
      </p:sp>
      <p:sp>
        <p:nvSpPr>
          <p:cNvPr id="26" name="Definiciones"/>
          <p:cNvSpPr/>
          <p:nvPr/>
        </p:nvSpPr>
        <p:spPr>
          <a:xfrm>
            <a:off x="548640" y="5559552"/>
            <a:ext cx="11094415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Definiciones texto"/>
          <p:cNvSpPr txBox="1"/>
          <p:nvPr/>
        </p:nvSpPr>
        <p:spPr>
          <a:xfrm>
            <a:off x="822960" y="5559552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Multiplicador = recaudación / presupuesto   ·   Rentable: multiplicador ≥ 2   ·   Temporada alta: mayo a agosto, noviembre y diciembre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A7364721-61A8-E247-02C0-09B169AA525B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TMDB 5000: los ceros no son películas gratis</a:t>
            </a:r>
            <a:endParaRPr lang="en-US" sz="3000" dirty="0"/>
          </a:p>
        </p:txBody>
      </p:sp>
      <p:sp>
        <p:nvSpPr>
          <p:cNvPr id="5" name="Dataset"/>
          <p:cNvSpPr/>
          <p:nvPr/>
        </p:nvSpPr>
        <p:spPr>
          <a:xfrm>
            <a:off x="548640" y="1417320"/>
            <a:ext cx="512064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Dataset valor"/>
          <p:cNvSpPr txBox="1"/>
          <p:nvPr/>
        </p:nvSpPr>
        <p:spPr>
          <a:xfrm>
            <a:off x="868680" y="1645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4.803</a:t>
            </a:r>
            <a:endParaRPr lang="en-US" sz="6000" dirty="0"/>
          </a:p>
        </p:txBody>
      </p:sp>
      <p:sp>
        <p:nvSpPr>
          <p:cNvPr id="7" name="Dataset etiqueta"/>
          <p:cNvSpPr txBox="1"/>
          <p:nvPr/>
        </p:nvSpPr>
        <p:spPr>
          <a:xfrm>
            <a:off x="868680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películas · 20 columnas · fuente secundaria (Kaggle)</a:t>
            </a:r>
            <a:endParaRPr lang="en-US" sz="1500" dirty="0"/>
          </a:p>
        </p:txBody>
      </p:sp>
      <p:sp>
        <p:nvSpPr>
          <p:cNvPr id="8" name="Dataset detalle"/>
          <p:cNvSpPr txBox="1"/>
          <p:nvPr/>
        </p:nvSpPr>
        <p:spPr>
          <a:xfrm>
            <a:off x="868680" y="301752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segundo archivo con el reparto y el equipo técnico: de ahí sale el director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Géneros, productoras y créditos vienen en JSON: los pasamos a listas</a:t>
            </a:r>
            <a:endParaRPr lang="en-US" sz="1400" dirty="0"/>
          </a:p>
        </p:txBody>
      </p:sp>
      <p:sp>
        <p:nvSpPr>
          <p:cNvPr id="9" name="Ceros presupuesto"/>
          <p:cNvSpPr/>
          <p:nvPr/>
        </p:nvSpPr>
        <p:spPr>
          <a:xfrm>
            <a:off x="5943600" y="1417320"/>
            <a:ext cx="2712568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Ceros presupuesto valor"/>
          <p:cNvSpPr txBox="1"/>
          <p:nvPr/>
        </p:nvSpPr>
        <p:spPr>
          <a:xfrm>
            <a:off x="6217920" y="1673352"/>
            <a:ext cx="216392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21,6 %</a:t>
            </a:r>
            <a:endParaRPr lang="en-US" sz="5000" dirty="0"/>
          </a:p>
        </p:txBody>
      </p:sp>
      <p:sp>
        <p:nvSpPr>
          <p:cNvPr id="11" name="Ceros presupuesto etiqueta"/>
          <p:cNvSpPr txBox="1"/>
          <p:nvPr/>
        </p:nvSpPr>
        <p:spPr>
          <a:xfrm>
            <a:off x="6217920" y="2610104"/>
            <a:ext cx="216392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tiene el presupuesto en 0</a:t>
            </a:r>
            <a:endParaRPr lang="en-US" sz="1500" dirty="0"/>
          </a:p>
        </p:txBody>
      </p:sp>
      <p:sp>
        <p:nvSpPr>
          <p:cNvPr id="12" name="Ceros recaudación"/>
          <p:cNvSpPr/>
          <p:nvPr/>
        </p:nvSpPr>
        <p:spPr>
          <a:xfrm>
            <a:off x="8930488" y="1417320"/>
            <a:ext cx="2712568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Ceros recaudación valor"/>
          <p:cNvSpPr txBox="1"/>
          <p:nvPr/>
        </p:nvSpPr>
        <p:spPr>
          <a:xfrm>
            <a:off x="9204808" y="1673352"/>
            <a:ext cx="216392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29,7 %</a:t>
            </a:r>
            <a:endParaRPr lang="en-US" sz="5000" dirty="0"/>
          </a:p>
        </p:txBody>
      </p:sp>
      <p:sp>
        <p:nvSpPr>
          <p:cNvPr id="14" name="Ceros recaudación etiqueta"/>
          <p:cNvSpPr txBox="1"/>
          <p:nvPr/>
        </p:nvSpPr>
        <p:spPr>
          <a:xfrm>
            <a:off x="9204808" y="2610104"/>
            <a:ext cx="216392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tiene la recaudación en 0</a:t>
            </a:r>
            <a:endParaRPr lang="en-US" sz="1500" dirty="0"/>
          </a:p>
        </p:txBody>
      </p:sp>
      <p:sp>
        <p:nvSpPr>
          <p:cNvPr id="15" name="Lectura ceros"/>
          <p:cNvSpPr txBox="1"/>
          <p:nvPr/>
        </p:nvSpPr>
        <p:spPr>
          <a:xfrm>
            <a:off x="5943600" y="3657600"/>
            <a:ext cx="5699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son películas gratis: son datos que nadie reportó</a:t>
            </a:r>
            <a:endParaRPr lang="en-US" sz="1800" dirty="0"/>
          </a:p>
        </p:txBody>
      </p:sp>
      <p:sp>
        <p:nvSpPr>
          <p:cNvPr id="16" name="Variables título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Variables que creamos</a:t>
            </a:r>
            <a:endParaRPr lang="en-US" sz="1700" dirty="0"/>
          </a:p>
        </p:txBody>
      </p:sp>
      <p:sp>
        <p:nvSpPr>
          <p:cNvPr id="17" name="Variable Multiplicador"/>
          <p:cNvSpPr/>
          <p:nvPr/>
        </p:nvSpPr>
        <p:spPr>
          <a:xfrm>
            <a:off x="548640" y="4937760"/>
            <a:ext cx="160020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Variable Multiplicador texto"/>
          <p:cNvSpPr txBox="1"/>
          <p:nvPr/>
        </p:nvSpPr>
        <p:spPr>
          <a:xfrm>
            <a:off x="548640" y="4937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Multiplicador</a:t>
            </a:r>
            <a:endParaRPr lang="en-US" sz="1400" dirty="0"/>
          </a:p>
        </p:txBody>
      </p:sp>
      <p:sp>
        <p:nvSpPr>
          <p:cNvPr id="19" name="Variable ROI"/>
          <p:cNvSpPr/>
          <p:nvPr/>
        </p:nvSpPr>
        <p:spPr>
          <a:xfrm>
            <a:off x="2286000" y="4937760"/>
            <a:ext cx="77724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Variable ROI texto"/>
          <p:cNvSpPr txBox="1"/>
          <p:nvPr/>
        </p:nvSpPr>
        <p:spPr>
          <a:xfrm>
            <a:off x="2286000" y="49377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ROI</a:t>
            </a:r>
            <a:endParaRPr lang="en-US" sz="1400" dirty="0"/>
          </a:p>
        </p:txBody>
      </p:sp>
      <p:sp>
        <p:nvSpPr>
          <p:cNvPr id="21" name="Variable Rentable (≥ 2x)"/>
          <p:cNvSpPr/>
          <p:nvPr/>
        </p:nvSpPr>
        <p:spPr>
          <a:xfrm>
            <a:off x="3200400" y="4937760"/>
            <a:ext cx="178308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Variable Rentable (≥ 2x) texto"/>
          <p:cNvSpPr txBox="1"/>
          <p:nvPr/>
        </p:nvSpPr>
        <p:spPr>
          <a:xfrm>
            <a:off x="3200400" y="4937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Rentable (≥ 2x)</a:t>
            </a:r>
            <a:endParaRPr lang="en-US" sz="1400" dirty="0"/>
          </a:p>
        </p:txBody>
      </p:sp>
      <p:sp>
        <p:nvSpPr>
          <p:cNvPr id="23" name="Variable Temporada alta"/>
          <p:cNvSpPr/>
          <p:nvPr/>
        </p:nvSpPr>
        <p:spPr>
          <a:xfrm>
            <a:off x="5120640" y="4937760"/>
            <a:ext cx="178308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Variable Temporada alta texto"/>
          <p:cNvSpPr txBox="1"/>
          <p:nvPr/>
        </p:nvSpPr>
        <p:spPr>
          <a:xfrm>
            <a:off x="5120640" y="4937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Temporada alta</a:t>
            </a:r>
            <a:endParaRPr lang="en-US" sz="1400" dirty="0"/>
          </a:p>
        </p:txBody>
      </p:sp>
      <p:sp>
        <p:nvSpPr>
          <p:cNvPr id="25" name="Variable Género principal"/>
          <p:cNvSpPr/>
          <p:nvPr/>
        </p:nvSpPr>
        <p:spPr>
          <a:xfrm>
            <a:off x="7040880" y="4937760"/>
            <a:ext cx="187452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Variable Género principal texto"/>
          <p:cNvSpPr txBox="1"/>
          <p:nvPr/>
        </p:nvSpPr>
        <p:spPr>
          <a:xfrm>
            <a:off x="7040880" y="4937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Género principal</a:t>
            </a:r>
            <a:endParaRPr lang="en-US" sz="1400" dirty="0"/>
          </a:p>
        </p:txBody>
      </p:sp>
      <p:sp>
        <p:nvSpPr>
          <p:cNvPr id="27" name="Variable Década"/>
          <p:cNvSpPr/>
          <p:nvPr/>
        </p:nvSpPr>
        <p:spPr>
          <a:xfrm>
            <a:off x="9052560" y="4937760"/>
            <a:ext cx="105156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Variable Década texto"/>
          <p:cNvSpPr txBox="1"/>
          <p:nvPr/>
        </p:nvSpPr>
        <p:spPr>
          <a:xfrm>
            <a:off x="9052560" y="49377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Década</a:t>
            </a:r>
            <a:endParaRPr lang="en-US" sz="1400" dirty="0"/>
          </a:p>
        </p:txBody>
      </p:sp>
      <p:sp>
        <p:nvSpPr>
          <p:cNvPr id="29" name="Variable Director"/>
          <p:cNvSpPr/>
          <p:nvPr/>
        </p:nvSpPr>
        <p:spPr>
          <a:xfrm>
            <a:off x="10241280" y="4937760"/>
            <a:ext cx="114300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Variable Director texto"/>
          <p:cNvSpPr txBox="1"/>
          <p:nvPr/>
        </p:nvSpPr>
        <p:spPr>
          <a:xfrm>
            <a:off x="10241280" y="49377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Director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2" name="Marcador de texto 31">
            <a:extLst>
              <a:ext uri="{FF2B5EF4-FFF2-40B4-BE49-F238E27FC236}">
                <a16:creationId xmlns:a16="http://schemas.microsoft.com/office/drawing/2014/main" id="{C36F5468-3ADF-5DD9-F195-52335FAC6758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 4.803 a 2.265 películas confiables</a:t>
            </a:r>
            <a:endParaRPr lang="en-US" sz="3000" dirty="0"/>
          </a:p>
        </p:txBody>
      </p:sp>
      <p:sp>
        <p:nvSpPr>
          <p:cNvPr id="5" name="Paso 1 etiqueta"/>
          <p:cNvSpPr txBox="1"/>
          <p:nvPr/>
        </p:nvSpPr>
        <p:spPr>
          <a:xfrm>
            <a:off x="548640" y="1417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Todas las películas del TMDB 5000</a:t>
            </a:r>
            <a:endParaRPr lang="en-US" sz="1400" dirty="0"/>
          </a:p>
        </p:txBody>
      </p:sp>
      <p:sp>
        <p:nvSpPr>
          <p:cNvPr id="6" name="Paso 1 barra"/>
          <p:cNvSpPr/>
          <p:nvPr/>
        </p:nvSpPr>
        <p:spPr>
          <a:xfrm>
            <a:off x="548640" y="1746504"/>
            <a:ext cx="6949440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Paso 1 cantidad"/>
          <p:cNvSpPr txBox="1"/>
          <p:nvPr/>
        </p:nvSpPr>
        <p:spPr>
          <a:xfrm>
            <a:off x="777240" y="17465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4.803</a:t>
            </a:r>
            <a:endParaRPr lang="en-US" sz="2600" dirty="0"/>
          </a:p>
        </p:txBody>
      </p:sp>
      <p:sp>
        <p:nvSpPr>
          <p:cNvPr id="8" name="Paso 2 etiqueta"/>
          <p:cNvSpPr txBox="1"/>
          <p:nvPr/>
        </p:nvSpPr>
        <p:spPr>
          <a:xfrm>
            <a:off x="548640" y="2560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Estrenadas y con presupuesto y recaudación reportados</a:t>
            </a:r>
            <a:endParaRPr lang="en-US" sz="1400" dirty="0"/>
          </a:p>
        </p:txBody>
      </p:sp>
      <p:sp>
        <p:nvSpPr>
          <p:cNvPr id="9" name="Paso 2 barra"/>
          <p:cNvSpPr/>
          <p:nvPr/>
        </p:nvSpPr>
        <p:spPr>
          <a:xfrm>
            <a:off x="548640" y="2889504"/>
            <a:ext cx="4670579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Paso 2 cantidad"/>
          <p:cNvSpPr txBox="1"/>
          <p:nvPr/>
        </p:nvSpPr>
        <p:spPr>
          <a:xfrm>
            <a:off x="777240" y="28895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3.228</a:t>
            </a:r>
            <a:endParaRPr lang="en-US" sz="2600" dirty="0"/>
          </a:p>
        </p:txBody>
      </p:sp>
      <p:sp>
        <p:nvSpPr>
          <p:cNvPr id="11" name="Paso 3 etiqueta"/>
          <p:cNvSpPr txBox="1"/>
          <p:nvPr/>
        </p:nvSpPr>
        <p:spPr>
          <a:xfrm>
            <a:off x="548640" y="3703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Sin los 24 montos menores a 10.000 USD: la base financiera</a:t>
            </a:r>
            <a:endParaRPr lang="en-US" sz="1400" dirty="0"/>
          </a:p>
        </p:txBody>
      </p:sp>
      <p:sp>
        <p:nvSpPr>
          <p:cNvPr id="12" name="Paso 3 barra"/>
          <p:cNvSpPr/>
          <p:nvPr/>
        </p:nvSpPr>
        <p:spPr>
          <a:xfrm>
            <a:off x="548640" y="4032504"/>
            <a:ext cx="4635854" cy="658368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Paso 3 cantidad"/>
          <p:cNvSpPr txBox="1"/>
          <p:nvPr/>
        </p:nvSpPr>
        <p:spPr>
          <a:xfrm>
            <a:off x="777240" y="40325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3.204</a:t>
            </a:r>
            <a:endParaRPr lang="en-US" sz="2600" dirty="0"/>
          </a:p>
        </p:txBody>
      </p:sp>
      <p:sp>
        <p:nvSpPr>
          <p:cNvPr id="14" name="Paso 4 etiqueta"/>
          <p:cNvSpPr txBox="1"/>
          <p:nvPr/>
        </p:nvSpPr>
        <p:spPr>
          <a:xfrm>
            <a:off x="548640" y="4846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Estrenadas desde 2000: la referencia de casi todo el análisis</a:t>
            </a:r>
            <a:endParaRPr lang="en-US" sz="1400" dirty="0"/>
          </a:p>
        </p:txBody>
      </p:sp>
      <p:sp>
        <p:nvSpPr>
          <p:cNvPr id="15" name="Paso 4 barra"/>
          <p:cNvSpPr/>
          <p:nvPr/>
        </p:nvSpPr>
        <p:spPr>
          <a:xfrm>
            <a:off x="548640" y="5175504"/>
            <a:ext cx="3277219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Paso 4 cantidad"/>
          <p:cNvSpPr txBox="1"/>
          <p:nvPr/>
        </p:nvSpPr>
        <p:spPr>
          <a:xfrm>
            <a:off x="777240" y="51755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2.265</a:t>
            </a:r>
            <a:endParaRPr lang="en-US" sz="2600" dirty="0"/>
          </a:p>
        </p:txBody>
      </p:sp>
      <p:sp>
        <p:nvSpPr>
          <p:cNvPr id="17" name="Decisiones de limpieza"/>
          <p:cNvSpPr/>
          <p:nvPr/>
        </p:nvSpPr>
        <p:spPr>
          <a:xfrm>
            <a:off x="8183880" y="1417320"/>
            <a:ext cx="3459175" cy="4224528"/>
          </a:xfrm>
          <a:prstGeom prst="roundRect">
            <a:avLst>
              <a:gd name="adj" fmla="val 317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Decisiones de limpieza título"/>
          <p:cNvSpPr txBox="1"/>
          <p:nvPr/>
        </p:nvSpPr>
        <p:spPr>
          <a:xfrm>
            <a:off x="845820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 que decidimos</a:t>
            </a:r>
            <a:endParaRPr lang="en-US" sz="1800" dirty="0"/>
          </a:p>
        </p:txBody>
      </p:sp>
      <p:sp>
        <p:nvSpPr>
          <p:cNvPr id="19" name="Decisiones de limpieza lista"/>
          <p:cNvSpPr txBox="1"/>
          <p:nvPr/>
        </p:nvSpPr>
        <p:spPr>
          <a:xfrm>
            <a:off x="8458200" y="224028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imputamos: inventar un presupuesto es inventar el retorno</a:t>
            </a:r>
            <a:endParaRPr lang="en-US" sz="1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0 duplicados; los ceros pasan a ser faltantes</a:t>
            </a:r>
            <a:endParaRPr lang="en-US" sz="1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Desde 2000, porque lo viejo que quedó son clásicos que sobrevivieron, en dólares de otra época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EFF45378-92A0-09C2-B84B-F0A8BCFA9E35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H1 · Más presupuesto no rinde más por dólar</a:t>
            </a:r>
            <a:endParaRPr lang="en-US" sz="3000" dirty="0"/>
          </a:p>
        </p:txBody>
      </p:sp>
      <p:sp>
        <p:nvSpPr>
          <p:cNvPr id="5" name="Toda la base"/>
          <p:cNvSpPr/>
          <p:nvPr/>
        </p:nvSpPr>
        <p:spPr>
          <a:xfrm>
            <a:off x="548640" y="1417320"/>
            <a:ext cx="475488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oda la base encabezado"/>
          <p:cNvSpPr txBox="1"/>
          <p:nvPr/>
        </p:nvSpPr>
        <p:spPr>
          <a:xfrm>
            <a:off x="822960" y="16733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Toda la base · 3.204 películas</a:t>
            </a:r>
            <a:endParaRPr lang="en-US" sz="1300" dirty="0"/>
          </a:p>
        </p:txBody>
      </p:sp>
      <p:sp>
        <p:nvSpPr>
          <p:cNvPr id="7" name="Toda la base valor"/>
          <p:cNvSpPr txBox="1"/>
          <p:nvPr/>
        </p:nvSpPr>
        <p:spPr>
          <a:xfrm>
            <a:off x="822960" y="2020824"/>
            <a:ext cx="420624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ρ = −0,137</a:t>
            </a:r>
            <a:endParaRPr lang="en-US" sz="4000" dirty="0"/>
          </a:p>
        </p:txBody>
      </p:sp>
      <p:sp>
        <p:nvSpPr>
          <p:cNvPr id="8" name="Toda la base etiqueta"/>
          <p:cNvSpPr txBox="1"/>
          <p:nvPr/>
        </p:nvSpPr>
        <p:spPr>
          <a:xfrm>
            <a:off x="822960" y="2830576"/>
            <a:ext cx="4206240" cy="36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 = 7,5 × 10⁻¹⁵ · se rechaza H0</a:t>
            </a:r>
            <a:endParaRPr lang="en-US" sz="1500" dirty="0"/>
          </a:p>
        </p:txBody>
      </p:sp>
      <p:sp>
        <p:nvSpPr>
          <p:cNvPr id="9" name="Desde 2000"/>
          <p:cNvSpPr/>
          <p:nvPr/>
        </p:nvSpPr>
        <p:spPr>
          <a:xfrm>
            <a:off x="548640" y="3566160"/>
            <a:ext cx="475488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Desde 2000 encabezado"/>
          <p:cNvSpPr txBox="1"/>
          <p:nvPr/>
        </p:nvSpPr>
        <p:spPr>
          <a:xfrm>
            <a:off x="822960" y="38221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Desde 2000 · 2.265 películas</a:t>
            </a:r>
            <a:endParaRPr lang="en-US" sz="1300" dirty="0"/>
          </a:p>
        </p:txBody>
      </p:sp>
      <p:sp>
        <p:nvSpPr>
          <p:cNvPr id="11" name="Desde 2000 valor"/>
          <p:cNvSpPr txBox="1"/>
          <p:nvPr/>
        </p:nvSpPr>
        <p:spPr>
          <a:xfrm>
            <a:off x="822960" y="4169664"/>
            <a:ext cx="420624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ρ = −0,0001</a:t>
            </a:r>
            <a:endParaRPr lang="en-US" sz="4000" dirty="0"/>
          </a:p>
        </p:txBody>
      </p:sp>
      <p:sp>
        <p:nvSpPr>
          <p:cNvPr id="12" name="Desde 2000 etiqueta"/>
          <p:cNvSpPr txBox="1"/>
          <p:nvPr/>
        </p:nvSpPr>
        <p:spPr>
          <a:xfrm>
            <a:off x="822960" y="4979416"/>
            <a:ext cx="4206240" cy="36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 = 0,996 · no se rechaza H0</a:t>
            </a:r>
            <a:endParaRPr lang="en-US" sz="1500" dirty="0"/>
          </a:p>
        </p:txBody>
      </p:sp>
      <p:sp>
        <p:nvSpPr>
          <p:cNvPr id="13" name="Lectura H1"/>
          <p:cNvSpPr txBox="1"/>
          <p:nvPr/>
        </p:nvSpPr>
        <p:spPr>
          <a:xfrm>
            <a:off x="548640" y="55961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correlación negativa la armaban los clásicos de antes de 2000</a:t>
            </a:r>
            <a:endParaRPr lang="en-US" sz="1500" dirty="0"/>
          </a:p>
        </p:txBody>
      </p:sp>
      <p:sp>
        <p:nvSpPr>
          <p:cNvPr id="14" name="Riesgo por presupuesto"/>
          <p:cNvSpPr/>
          <p:nvPr/>
        </p:nvSpPr>
        <p:spPr>
          <a:xfrm>
            <a:off x="5577840" y="1417320"/>
            <a:ext cx="6065215" cy="4636008"/>
          </a:xfrm>
          <a:prstGeom prst="roundRect">
            <a:avLst>
              <a:gd name="adj" fmla="val 236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Riesgo título"/>
          <p:cNvSpPr txBox="1"/>
          <p:nvPr/>
        </p:nvSpPr>
        <p:spPr>
          <a:xfrm>
            <a:off x="5897880" y="1673352"/>
            <a:ext cx="5425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 que sí cambia es el riesgo</a:t>
            </a:r>
            <a:endParaRPr lang="en-US" sz="1800" dirty="0"/>
          </a:p>
        </p:txBody>
      </p:sp>
      <p:sp>
        <p:nvSpPr>
          <p:cNvPr id="16" name="Riesgo subtítulo"/>
          <p:cNvSpPr txBox="1"/>
          <p:nvPr/>
        </p:nvSpPr>
        <p:spPr>
          <a:xfrm>
            <a:off x="5897880" y="2075688"/>
            <a:ext cx="5425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% que no recupera su presupuesto, por rango de presupuesto (desde 2000)</a:t>
            </a:r>
            <a:endParaRPr lang="en-US" sz="1300" dirty="0"/>
          </a:p>
        </p:txBody>
      </p:sp>
      <p:graphicFrame>
        <p:nvGraphicFramePr>
          <p:cNvPr id="17" name="Gráfica riesgo"/>
          <p:cNvGraphicFramePr/>
          <p:nvPr/>
        </p:nvGraphicFramePr>
        <p:xfrm>
          <a:off x="5806440" y="2468880"/>
          <a:ext cx="5608015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Riesgo nota"/>
          <p:cNvSpPr txBox="1"/>
          <p:nvPr/>
        </p:nvSpPr>
        <p:spPr>
          <a:xfrm>
            <a:off x="5897880" y="5577840"/>
            <a:ext cx="5425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Descriptivo: Spearman no prueba estas diferencias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6C11B2E2-EE95-7DD0-1FCD-69C08BD52E3B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H2 · La temporada alta ayuda a las películas grandes</a:t>
            </a:r>
            <a:endParaRPr lang="en-US" sz="3000" dirty="0"/>
          </a:p>
        </p:txBody>
      </p:sp>
      <p:sp>
        <p:nvSpPr>
          <p:cNvPr id="5" name="Resultado H2"/>
          <p:cNvSpPr/>
          <p:nvPr/>
        </p:nvSpPr>
        <p:spPr>
          <a:xfrm>
            <a:off x="548640" y="1417320"/>
            <a:ext cx="4206240" cy="3063240"/>
          </a:xfrm>
          <a:prstGeom prst="roundRect">
            <a:avLst>
              <a:gd name="adj" fmla="val 358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sultado H2 encabezado"/>
          <p:cNvSpPr txBox="1"/>
          <p:nvPr/>
        </p:nvSpPr>
        <p:spPr>
          <a:xfrm>
            <a:off x="822960" y="1673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Desde 2000 · temporada alta frente al resto</a:t>
            </a:r>
            <a:endParaRPr lang="en-US" sz="1300" dirty="0"/>
          </a:p>
        </p:txBody>
      </p:sp>
      <p:sp>
        <p:nvSpPr>
          <p:cNvPr id="7" name="Resultado H2 valor"/>
          <p:cNvSpPr txBox="1"/>
          <p:nvPr/>
        </p:nvSpPr>
        <p:spPr>
          <a:xfrm>
            <a:off x="822960" y="203911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1,16x</a:t>
            </a:r>
            <a:endParaRPr lang="en-US" sz="6600" dirty="0"/>
          </a:p>
        </p:txBody>
      </p:sp>
      <p:sp>
        <p:nvSpPr>
          <p:cNvPr id="8" name="Resultado H2 etiqueta"/>
          <p:cNvSpPr txBox="1"/>
          <p:nvPr/>
        </p:nvSpPr>
        <p:spPr>
          <a:xfrm>
            <a:off x="822960" y="31546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multiplicador típico en temporada alta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IC 95 %: 1,04 a 1,30 · p = 0,008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 rechaza H0</a:t>
            </a:r>
            <a:endParaRPr lang="en-US" sz="1500" dirty="0"/>
          </a:p>
        </p:txBody>
      </p:sp>
      <p:sp>
        <p:nvSpPr>
          <p:cNvPr id="9" name="Advertencia H2"/>
          <p:cNvSpPr/>
          <p:nvPr/>
        </p:nvSpPr>
        <p:spPr>
          <a:xfrm>
            <a:off x="548640" y="4709160"/>
            <a:ext cx="4206240" cy="1344168"/>
          </a:xfrm>
          <a:prstGeom prst="roundRect">
            <a:avLst>
              <a:gd name="adj" fmla="val 8163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Advertencia H2 texto"/>
          <p:cNvSpPr txBox="1"/>
          <p:nvPr/>
        </p:nvSpPr>
        <p:spPr>
          <a:xfrm>
            <a:off x="822960" y="4846320"/>
            <a:ext cx="36576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Es asociación, no causa: los estudios guardan esas fechas para sus películas más fuertes</a:t>
            </a:r>
            <a:endParaRPr lang="en-US" sz="1500" dirty="0"/>
          </a:p>
        </p:txBody>
      </p:sp>
      <p:sp>
        <p:nvSpPr>
          <p:cNvPr id="11" name="H2 por presupuesto"/>
          <p:cNvSpPr/>
          <p:nvPr/>
        </p:nvSpPr>
        <p:spPr>
          <a:xfrm>
            <a:off x="5029200" y="1417320"/>
            <a:ext cx="6613855" cy="4636008"/>
          </a:xfrm>
          <a:prstGeom prst="roundRect">
            <a:avLst>
              <a:gd name="adj" fmla="val 236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H2 por presupuesto título"/>
          <p:cNvSpPr txBox="1"/>
          <p:nvPr/>
        </p:nvSpPr>
        <p:spPr>
          <a:xfrm>
            <a:off x="5349240" y="1673352"/>
            <a:ext cx="5973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ventaja está de 30 M para arriba</a:t>
            </a:r>
            <a:endParaRPr lang="en-US" sz="1800" dirty="0"/>
          </a:p>
        </p:txBody>
      </p:sp>
      <p:sp>
        <p:nvSpPr>
          <p:cNvPr id="13" name="H2 por presupuesto subtítulo"/>
          <p:cNvSpPr txBox="1"/>
          <p:nvPr/>
        </p:nvSpPr>
        <p:spPr>
          <a:xfrm>
            <a:off x="5349240" y="2075688"/>
            <a:ext cx="5973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Cuántas veces rinde más la temporada alta, por rango de presupuesto (desde 2000)</a:t>
            </a:r>
            <a:endParaRPr lang="en-US" sz="1300" dirty="0"/>
          </a:p>
        </p:txBody>
      </p:sp>
      <p:graphicFrame>
        <p:nvGraphicFramePr>
          <p:cNvPr id="14" name="Gráfica temporada"/>
          <p:cNvGraphicFramePr/>
          <p:nvPr/>
        </p:nvGraphicFramePr>
        <p:xfrm>
          <a:off x="5257800" y="2468880"/>
          <a:ext cx="6156655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H2 leyenda"/>
          <p:cNvSpPr txBox="1"/>
          <p:nvPr/>
        </p:nvSpPr>
        <p:spPr>
          <a:xfrm>
            <a:off x="5349240" y="5577840"/>
            <a:ext cx="5973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■ </a:t>
            </a:r>
            <a:r>
              <a:rPr lang="en-US" sz="1200" dirty="0">
                <a:solidFill>
                  <a:schemeClr val="tx2"/>
                </a:solidFill>
              </a:rPr>
              <a:t>se rechaza H0     </a:t>
            </a:r>
            <a:r>
              <a:rPr lang="en-US" sz="1200" dirty="0">
                <a:solidFill>
                  <a:schemeClr val="accent2"/>
                </a:solidFill>
              </a:rPr>
              <a:t>■ </a:t>
            </a:r>
            <a:r>
              <a:rPr lang="en-US" sz="1200" dirty="0">
                <a:solidFill>
                  <a:schemeClr val="tx2"/>
                </a:solidFill>
              </a:rPr>
              <a:t>no se rechaza H0     ·     1,00x = rinden igual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DA210E33-042F-0188-8EFB-B5A11BDBEF85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H3 · Solo el terror se despega</a:t>
            </a:r>
            <a:endParaRPr lang="en-US" sz="3000" dirty="0"/>
          </a:p>
        </p:txBody>
      </p:sp>
      <p:sp>
        <p:nvSpPr>
          <p:cNvPr id="5" name="H3 dato 1"/>
          <p:cNvSpPr/>
          <p:nvPr/>
        </p:nvSpPr>
        <p:spPr>
          <a:xfrm>
            <a:off x="548640" y="1417320"/>
            <a:ext cx="457200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H3 dato 1 encabezado"/>
          <p:cNvSpPr txBox="1"/>
          <p:nvPr/>
        </p:nvSpPr>
        <p:spPr>
          <a:xfrm>
            <a:off x="82296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Chi-cuadrado, desde 2000</a:t>
            </a:r>
            <a:endParaRPr lang="en-US" sz="1300" dirty="0"/>
          </a:p>
        </p:txBody>
      </p:sp>
      <p:sp>
        <p:nvSpPr>
          <p:cNvPr id="7" name="H3 dato 1 valor"/>
          <p:cNvSpPr txBox="1"/>
          <p:nvPr/>
        </p:nvSpPr>
        <p:spPr>
          <a:xfrm>
            <a:off x="822960" y="1828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 = 1,0 × 10⁻⁶</a:t>
            </a:r>
            <a:endParaRPr lang="en-US" sz="3400" dirty="0"/>
          </a:p>
        </p:txBody>
      </p:sp>
      <p:sp>
        <p:nvSpPr>
          <p:cNvPr id="8" name="H3 dato 1 detalle"/>
          <p:cNvSpPr txBox="1"/>
          <p:nvPr/>
        </p:nvSpPr>
        <p:spPr>
          <a:xfrm>
            <a:off x="822960" y="2377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χ² = 48,76 · 11 gl · V de Cramér = 0,147 (débil)</a:t>
            </a:r>
            <a:endParaRPr lang="en-US" sz="1200" dirty="0"/>
          </a:p>
        </p:txBody>
      </p:sp>
      <p:sp>
        <p:nvSpPr>
          <p:cNvPr id="9" name="H3 dato 2"/>
          <p:cNvSpPr/>
          <p:nvPr/>
        </p:nvSpPr>
        <p:spPr>
          <a:xfrm>
            <a:off x="548640" y="2999232"/>
            <a:ext cx="457200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H3 dato 2 encabezado"/>
          <p:cNvSpPr txBox="1"/>
          <p:nvPr/>
        </p:nvSpPr>
        <p:spPr>
          <a:xfrm>
            <a:off x="822960" y="3136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Casi todo lo explica el terror</a:t>
            </a:r>
            <a:endParaRPr lang="en-US" sz="1300" dirty="0"/>
          </a:p>
        </p:txBody>
      </p:sp>
      <p:sp>
        <p:nvSpPr>
          <p:cNvPr id="11" name="H3 dato 2 valor"/>
          <p:cNvSpPr txBox="1"/>
          <p:nvPr/>
        </p:nvSpPr>
        <p:spPr>
          <a:xfrm>
            <a:off x="822960" y="3410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61 %</a:t>
            </a:r>
            <a:endParaRPr lang="en-US" sz="4000" dirty="0"/>
          </a:p>
        </p:txBody>
      </p:sp>
      <p:sp>
        <p:nvSpPr>
          <p:cNvPr id="12" name="H3 dato 2 detalle"/>
          <p:cNvSpPr txBox="1"/>
          <p:nvPr/>
        </p:nvSpPr>
        <p:spPr>
          <a:xfrm>
            <a:off x="822960" y="39593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del χ² · sin terror, p = 0,069: no se rechaza H0</a:t>
            </a:r>
            <a:endParaRPr lang="en-US" sz="1200" dirty="0"/>
          </a:p>
        </p:txBody>
      </p:sp>
      <p:sp>
        <p:nvSpPr>
          <p:cNvPr id="13" name="H3 dato 3"/>
          <p:cNvSpPr/>
          <p:nvPr/>
        </p:nvSpPr>
        <p:spPr>
          <a:xfrm>
            <a:off x="548640" y="4581144"/>
            <a:ext cx="457200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H3 dato 3 encabezado"/>
          <p:cNvSpPr txBox="1"/>
          <p:nvPr/>
        </p:nvSpPr>
        <p:spPr>
          <a:xfrm>
            <a:off x="822960" y="4718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Y no es solo porque sea barato</a:t>
            </a:r>
            <a:endParaRPr lang="en-US" sz="1300" dirty="0"/>
          </a:p>
        </p:txBody>
      </p:sp>
      <p:sp>
        <p:nvSpPr>
          <p:cNvPr id="15" name="H3 dato 3 valor"/>
          <p:cNvSpPr txBox="1"/>
          <p:nvPr/>
        </p:nvSpPr>
        <p:spPr>
          <a:xfrm>
            <a:off x="822960" y="499262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82,7 % vs. 51,5 %</a:t>
            </a:r>
            <a:endParaRPr lang="en-US" sz="3000" dirty="0"/>
          </a:p>
        </p:txBody>
      </p:sp>
      <p:sp>
        <p:nvSpPr>
          <p:cNvPr id="16" name="H3 dato 3 detalle"/>
          <p:cNvSpPr txBox="1"/>
          <p:nvPr/>
        </p:nvSpPr>
        <p:spPr>
          <a:xfrm>
            <a:off x="822960" y="554126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rentables hasta 15 M: terror frente a los demás géneros (p = 3,5 × 10⁻⁷)</a:t>
            </a:r>
            <a:endParaRPr lang="en-US" sz="1200" dirty="0"/>
          </a:p>
        </p:txBody>
      </p:sp>
      <p:sp>
        <p:nvSpPr>
          <p:cNvPr id="17" name="Rentables por género"/>
          <p:cNvSpPr/>
          <p:nvPr/>
        </p:nvSpPr>
        <p:spPr>
          <a:xfrm>
            <a:off x="5394960" y="1417320"/>
            <a:ext cx="6248095" cy="4636008"/>
          </a:xfrm>
          <a:prstGeom prst="roundRect">
            <a:avLst>
              <a:gd name="adj" fmla="val 236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ntables por género título"/>
          <p:cNvSpPr txBox="1"/>
          <p:nvPr/>
        </p:nvSpPr>
        <p:spPr>
          <a:xfrm>
            <a:off x="5715000" y="164592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% de películas rentables por género principal (desde 2000)</a:t>
            </a:r>
            <a:endParaRPr lang="en-US" sz="1400" dirty="0"/>
          </a:p>
        </p:txBody>
      </p:sp>
      <p:graphicFrame>
        <p:nvGraphicFramePr>
          <p:cNvPr id="19" name="Gráfica géneros"/>
          <p:cNvGraphicFramePr/>
          <p:nvPr/>
        </p:nvGraphicFramePr>
        <p:xfrm>
          <a:off x="5532120" y="2011680"/>
          <a:ext cx="5882335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9FD189E8-9B2E-4630-AB1A-1369BB5E9107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Seis KPIs: retorno, riesgo y escala</a:t>
            </a:r>
            <a:endParaRPr lang="en-US" sz="3000" dirty="0"/>
          </a:p>
        </p:txBody>
      </p:sp>
      <p:sp>
        <p:nvSpPr>
          <p:cNvPr id="5" name="KPI ROI mediano"/>
          <p:cNvSpPr/>
          <p:nvPr/>
        </p:nvSpPr>
        <p:spPr>
          <a:xfrm>
            <a:off x="548640" y="1417320"/>
            <a:ext cx="35152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KPI ROI mediano etiqueta"/>
          <p:cNvSpPr/>
          <p:nvPr/>
        </p:nvSpPr>
        <p:spPr>
          <a:xfrm>
            <a:off x="2829458" y="164592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KPI ROI mediano hipótesis"/>
          <p:cNvSpPr txBox="1"/>
          <p:nvPr/>
        </p:nvSpPr>
        <p:spPr>
          <a:xfrm>
            <a:off x="2829458" y="1645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H1 · H2</a:t>
            </a:r>
            <a:endParaRPr lang="en-US" sz="1200" dirty="0"/>
          </a:p>
        </p:txBody>
      </p:sp>
      <p:sp>
        <p:nvSpPr>
          <p:cNvPr id="8" name="KPI ROI mediano valor"/>
          <p:cNvSpPr txBox="1"/>
          <p:nvPr/>
        </p:nvSpPr>
        <p:spPr>
          <a:xfrm>
            <a:off x="822960" y="19202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115,3 %</a:t>
            </a:r>
            <a:endParaRPr lang="en-US" sz="4000" dirty="0"/>
          </a:p>
        </p:txBody>
      </p:sp>
      <p:sp>
        <p:nvSpPr>
          <p:cNvPr id="9" name="KPI ROI mediano nombre"/>
          <p:cNvSpPr txBox="1"/>
          <p:nvPr/>
        </p:nvSpPr>
        <p:spPr>
          <a:xfrm>
            <a:off x="822960" y="2679192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ROI mediano</a:t>
            </a:r>
            <a:endParaRPr lang="en-US" sz="1700" dirty="0"/>
          </a:p>
        </p:txBody>
      </p:sp>
      <p:sp>
        <p:nvSpPr>
          <p:cNvPr id="10" name="KPI ROI mediano fórmula"/>
          <p:cNvSpPr txBox="1"/>
          <p:nvPr/>
        </p:nvSpPr>
        <p:spPr>
          <a:xfrm>
            <a:off x="822960" y="3017520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mediana de taquilla / presupuesto − 1</a:t>
            </a:r>
            <a:endParaRPr lang="en-US" sz="1300" dirty="0"/>
          </a:p>
        </p:txBody>
      </p:sp>
      <p:sp>
        <p:nvSpPr>
          <p:cNvPr id="11" name="KPI Películas rentables"/>
          <p:cNvSpPr/>
          <p:nvPr/>
        </p:nvSpPr>
        <p:spPr>
          <a:xfrm>
            <a:off x="4338218" y="1417320"/>
            <a:ext cx="35152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KPI Películas rentables etiqueta"/>
          <p:cNvSpPr/>
          <p:nvPr/>
        </p:nvSpPr>
        <p:spPr>
          <a:xfrm>
            <a:off x="6619037" y="164592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KPI Películas rentables hipótesis"/>
          <p:cNvSpPr txBox="1"/>
          <p:nvPr/>
        </p:nvSpPr>
        <p:spPr>
          <a:xfrm>
            <a:off x="6619037" y="1645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H3</a:t>
            </a:r>
            <a:endParaRPr lang="en-US" sz="1200" dirty="0"/>
          </a:p>
        </p:txBody>
      </p:sp>
      <p:sp>
        <p:nvSpPr>
          <p:cNvPr id="14" name="KPI Películas rentables valor"/>
          <p:cNvSpPr txBox="1"/>
          <p:nvPr/>
        </p:nvSpPr>
        <p:spPr>
          <a:xfrm>
            <a:off x="4612538" y="19202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53,2 %</a:t>
            </a:r>
            <a:endParaRPr lang="en-US" sz="4000" dirty="0"/>
          </a:p>
        </p:txBody>
      </p:sp>
      <p:sp>
        <p:nvSpPr>
          <p:cNvPr id="15" name="KPI Películas rentables nombre"/>
          <p:cNvSpPr txBox="1"/>
          <p:nvPr/>
        </p:nvSpPr>
        <p:spPr>
          <a:xfrm>
            <a:off x="4612538" y="2679192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Películas rentables</a:t>
            </a:r>
            <a:endParaRPr lang="en-US" sz="1700" dirty="0"/>
          </a:p>
        </p:txBody>
      </p:sp>
      <p:sp>
        <p:nvSpPr>
          <p:cNvPr id="16" name="KPI Películas rentables fórmula"/>
          <p:cNvSpPr txBox="1"/>
          <p:nvPr/>
        </p:nvSpPr>
        <p:spPr>
          <a:xfrm>
            <a:off x="4612538" y="3017520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multiplicador ≥ 2</a:t>
            </a:r>
            <a:endParaRPr lang="en-US" sz="1300" dirty="0"/>
          </a:p>
        </p:txBody>
      </p:sp>
      <p:sp>
        <p:nvSpPr>
          <p:cNvPr id="17" name="KPI No recuperan"/>
          <p:cNvSpPr/>
          <p:nvPr/>
        </p:nvSpPr>
        <p:spPr>
          <a:xfrm>
            <a:off x="8127797" y="1417320"/>
            <a:ext cx="35152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KPI No recuperan etiqueta"/>
          <p:cNvSpPr/>
          <p:nvPr/>
        </p:nvSpPr>
        <p:spPr>
          <a:xfrm>
            <a:off x="10408615" y="164592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KPI No recuperan hipótesis"/>
          <p:cNvSpPr txBox="1"/>
          <p:nvPr/>
        </p:nvSpPr>
        <p:spPr>
          <a:xfrm>
            <a:off x="10408615" y="1645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H1</a:t>
            </a:r>
            <a:endParaRPr lang="en-US" sz="1200" dirty="0"/>
          </a:p>
        </p:txBody>
      </p:sp>
      <p:sp>
        <p:nvSpPr>
          <p:cNvPr id="20" name="KPI No recuperan valor"/>
          <p:cNvSpPr txBox="1"/>
          <p:nvPr/>
        </p:nvSpPr>
        <p:spPr>
          <a:xfrm>
            <a:off x="8402117" y="19202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25,6 %</a:t>
            </a:r>
            <a:endParaRPr lang="en-US" sz="4000" dirty="0"/>
          </a:p>
        </p:txBody>
      </p:sp>
      <p:sp>
        <p:nvSpPr>
          <p:cNvPr id="21" name="KPI No recuperan nombre"/>
          <p:cNvSpPr txBox="1"/>
          <p:nvPr/>
        </p:nvSpPr>
        <p:spPr>
          <a:xfrm>
            <a:off x="8402117" y="2679192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recuperan</a:t>
            </a:r>
            <a:endParaRPr lang="en-US" sz="1700" dirty="0"/>
          </a:p>
        </p:txBody>
      </p:sp>
      <p:sp>
        <p:nvSpPr>
          <p:cNvPr id="22" name="KPI No recuperan fórmula"/>
          <p:cNvSpPr txBox="1"/>
          <p:nvPr/>
        </p:nvSpPr>
        <p:spPr>
          <a:xfrm>
            <a:off x="8402117" y="3017520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multiplicador &lt; 1: el riesgo</a:t>
            </a:r>
            <a:endParaRPr lang="en-US" sz="1300" dirty="0"/>
          </a:p>
        </p:txBody>
      </p:sp>
      <p:sp>
        <p:nvSpPr>
          <p:cNvPr id="23" name="KPI Presupuesto mediano"/>
          <p:cNvSpPr/>
          <p:nvPr/>
        </p:nvSpPr>
        <p:spPr>
          <a:xfrm>
            <a:off x="548640" y="3657600"/>
            <a:ext cx="35152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KPI Presupuesto mediano etiqueta"/>
          <p:cNvSpPr/>
          <p:nvPr/>
        </p:nvSpPr>
        <p:spPr>
          <a:xfrm>
            <a:off x="2829458" y="388620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KPI Presupuesto mediano hipótesis"/>
          <p:cNvSpPr txBox="1"/>
          <p:nvPr/>
        </p:nvSpPr>
        <p:spPr>
          <a:xfrm>
            <a:off x="2829458" y="3886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H1</a:t>
            </a:r>
            <a:endParaRPr lang="en-US" sz="1200" dirty="0"/>
          </a:p>
        </p:txBody>
      </p:sp>
      <p:sp>
        <p:nvSpPr>
          <p:cNvPr id="26" name="KPI Presupuesto mediano valor"/>
          <p:cNvSpPr txBox="1"/>
          <p:nvPr/>
        </p:nvSpPr>
        <p:spPr>
          <a:xfrm>
            <a:off x="822960" y="41605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 M</a:t>
            </a:r>
            <a:endParaRPr lang="en-US" sz="4000" dirty="0"/>
          </a:p>
        </p:txBody>
      </p:sp>
      <p:sp>
        <p:nvSpPr>
          <p:cNvPr id="27" name="KPI Presupuesto mediano nombre"/>
          <p:cNvSpPr txBox="1"/>
          <p:nvPr/>
        </p:nvSpPr>
        <p:spPr>
          <a:xfrm>
            <a:off x="822960" y="4919472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Presupuesto mediano</a:t>
            </a:r>
            <a:endParaRPr lang="en-US" sz="1700" dirty="0"/>
          </a:p>
        </p:txBody>
      </p:sp>
      <p:sp>
        <p:nvSpPr>
          <p:cNvPr id="28" name="KPI Presupuesto mediano fórmula"/>
          <p:cNvSpPr txBox="1"/>
          <p:nvPr/>
        </p:nvSpPr>
        <p:spPr>
          <a:xfrm>
            <a:off x="822960" y="5257800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USD nominales: la escala de la inversión</a:t>
            </a:r>
            <a:endParaRPr lang="en-US" sz="1300" dirty="0"/>
          </a:p>
        </p:txBody>
      </p:sp>
      <p:sp>
        <p:nvSpPr>
          <p:cNvPr id="29" name="KPI Recaudación total"/>
          <p:cNvSpPr/>
          <p:nvPr/>
        </p:nvSpPr>
        <p:spPr>
          <a:xfrm>
            <a:off x="4338218" y="3657600"/>
            <a:ext cx="35152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KPI Recaudación total etiqueta"/>
          <p:cNvSpPr/>
          <p:nvPr/>
        </p:nvSpPr>
        <p:spPr>
          <a:xfrm>
            <a:off x="6619037" y="388620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KPI Recaudación total hipótesis"/>
          <p:cNvSpPr txBox="1"/>
          <p:nvPr/>
        </p:nvSpPr>
        <p:spPr>
          <a:xfrm>
            <a:off x="6619037" y="3886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contexto</a:t>
            </a:r>
            <a:endParaRPr lang="en-US" sz="1200" dirty="0"/>
          </a:p>
        </p:txBody>
      </p:sp>
      <p:sp>
        <p:nvSpPr>
          <p:cNvPr id="32" name="KPI Recaudación total valor"/>
          <p:cNvSpPr txBox="1"/>
          <p:nvPr/>
        </p:nvSpPr>
        <p:spPr>
          <a:xfrm>
            <a:off x="4612538" y="41605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303.606 M</a:t>
            </a:r>
            <a:endParaRPr lang="en-US" sz="4000" dirty="0"/>
          </a:p>
        </p:txBody>
      </p:sp>
      <p:sp>
        <p:nvSpPr>
          <p:cNvPr id="33" name="KPI Recaudación total nombre"/>
          <p:cNvSpPr txBox="1"/>
          <p:nvPr/>
        </p:nvSpPr>
        <p:spPr>
          <a:xfrm>
            <a:off x="4612538" y="4919472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Recaudación total</a:t>
            </a:r>
            <a:endParaRPr lang="en-US" sz="1700" dirty="0"/>
          </a:p>
        </p:txBody>
      </p:sp>
      <p:sp>
        <p:nvSpPr>
          <p:cNvPr id="34" name="KPI Recaudación total fórmula"/>
          <p:cNvSpPr txBox="1"/>
          <p:nvPr/>
        </p:nvSpPr>
        <p:spPr>
          <a:xfrm>
            <a:off x="4612538" y="5257800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USD nominales: volumen, no retorno</a:t>
            </a:r>
            <a:endParaRPr lang="en-US" sz="1300" dirty="0"/>
          </a:p>
        </p:txBody>
      </p:sp>
      <p:sp>
        <p:nvSpPr>
          <p:cNvPr id="35" name="KPI Multiplicador típico"/>
          <p:cNvSpPr/>
          <p:nvPr/>
        </p:nvSpPr>
        <p:spPr>
          <a:xfrm>
            <a:off x="8127797" y="3657600"/>
            <a:ext cx="35152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KPI Multiplicador típico etiqueta"/>
          <p:cNvSpPr/>
          <p:nvPr/>
        </p:nvSpPr>
        <p:spPr>
          <a:xfrm>
            <a:off x="10408615" y="3886200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KPI Multiplicador típico hipótesis"/>
          <p:cNvSpPr txBox="1"/>
          <p:nvPr/>
        </p:nvSpPr>
        <p:spPr>
          <a:xfrm>
            <a:off x="10408615" y="3886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H2</a:t>
            </a:r>
            <a:endParaRPr lang="en-US" sz="1200" dirty="0"/>
          </a:p>
        </p:txBody>
      </p:sp>
      <p:sp>
        <p:nvSpPr>
          <p:cNvPr id="38" name="KPI Multiplicador típico valor"/>
          <p:cNvSpPr txBox="1"/>
          <p:nvPr/>
        </p:nvSpPr>
        <p:spPr>
          <a:xfrm>
            <a:off x="8402117" y="416052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1,81x</a:t>
            </a:r>
            <a:endParaRPr lang="en-US" sz="4000" dirty="0"/>
          </a:p>
        </p:txBody>
      </p:sp>
      <p:sp>
        <p:nvSpPr>
          <p:cNvPr id="39" name="KPI Multiplicador típico nombre"/>
          <p:cNvSpPr txBox="1"/>
          <p:nvPr/>
        </p:nvSpPr>
        <p:spPr>
          <a:xfrm>
            <a:off x="8402117" y="4919472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Multiplicador típico</a:t>
            </a:r>
            <a:endParaRPr lang="en-US" sz="1700" dirty="0"/>
          </a:p>
        </p:txBody>
      </p:sp>
      <p:sp>
        <p:nvSpPr>
          <p:cNvPr id="40" name="KPI Multiplicador típico fórmula"/>
          <p:cNvSpPr txBox="1"/>
          <p:nvPr/>
        </p:nvSpPr>
        <p:spPr>
          <a:xfrm>
            <a:off x="8402117" y="5257800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media geométrica del multiplicador</a:t>
            </a:r>
            <a:endParaRPr lang="en-US" sz="1300" dirty="0"/>
          </a:p>
        </p:txBody>
      </p:sp>
      <p:sp>
        <p:nvSpPr>
          <p:cNvPr id="41" name="KPIs nota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Desde 2000, 2.265 películas · mediana y media geométrica porque unos pocos éxitos enormes inflan el promedio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40B0B4CD-46F5-6D5F-057A-C083127CF4C2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 modelo estrella a las medidas DAX</a:t>
            </a:r>
            <a:endParaRPr lang="en-US" sz="3000" dirty="0"/>
          </a:p>
        </p:txBody>
      </p:sp>
      <p:sp>
        <p:nvSpPr>
          <p:cNvPr id="5" name="Modelo"/>
          <p:cNvSpPr/>
          <p:nvPr/>
        </p:nvSpPr>
        <p:spPr>
          <a:xfrm>
            <a:off x="548640" y="1417320"/>
            <a:ext cx="5943600" cy="4636008"/>
          </a:xfrm>
          <a:prstGeom prst="roundRect">
            <a:avLst>
              <a:gd name="adj" fmla="val 236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n modelo" descr="Modelo estrella con fact_peliculas en el centro, dimensiones de fecha, idioma, género y director, y dos tablas puen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2080"/>
            <a:ext cx="5669280" cy="3886488"/>
          </a:xfrm>
          <a:prstGeom prst="rect">
            <a:avLst/>
          </a:prstGeom>
        </p:spPr>
      </p:pic>
      <p:sp>
        <p:nvSpPr>
          <p:cNvPr id="7" name="Modelo puntos"/>
          <p:cNvSpPr txBox="1"/>
          <p:nvPr/>
        </p:nvSpPr>
        <p:spPr>
          <a:xfrm>
            <a:off x="6766560" y="1417320"/>
            <a:ext cx="487649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Una tabla de hechos, cuatro dimensiones y dos tablas puente: una película con varios géneros cuenta una sola vez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KPIs son medidas, no columnas: se recalculan con cada filtro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Comparadas con el notebook 04: iguales en los 45 segmentos</a:t>
            </a:r>
            <a:endParaRPr lang="en-US" sz="1500" dirty="0"/>
          </a:p>
        </p:txBody>
      </p:sp>
      <p:sp>
        <p:nvSpPr>
          <p:cNvPr id="8" name="Código DAX fondo"/>
          <p:cNvSpPr/>
          <p:nvPr/>
        </p:nvSpPr>
        <p:spPr>
          <a:xfrm>
            <a:off x="6766560" y="3840480"/>
            <a:ext cx="4876495" cy="2212848"/>
          </a:xfrm>
          <a:prstGeom prst="roundRect">
            <a:avLst>
              <a:gd name="adj" fmla="val 495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Código DAX"/>
          <p:cNvSpPr txBox="1"/>
          <p:nvPr/>
        </p:nvSpPr>
        <p:spPr>
          <a:xfrm>
            <a:off x="6995160" y="3977640"/>
            <a:ext cx="451073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rentables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rentables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CALCULATE([Películas],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KEEPFILTERS(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fact_peliculas[rentable] = TRUE()))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DIVIDE(COALESCE(rentables, 0), [Películas])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80E67B8-BD01-642E-C197-C446CE48193B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 poco capital, diversificar protege</a:t>
            </a:r>
            <a:endParaRPr lang="en-US" sz="3000" dirty="0"/>
          </a:p>
        </p:txBody>
      </p:sp>
      <p:sp>
        <p:nvSpPr>
          <p:cNvPr id="5" name="Carteras"/>
          <p:cNvSpPr/>
          <p:nvPr/>
        </p:nvSpPr>
        <p:spPr>
          <a:xfrm>
            <a:off x="548640" y="1417320"/>
            <a:ext cx="6629400" cy="4636008"/>
          </a:xfrm>
          <a:prstGeom prst="roundRect">
            <a:avLst>
              <a:gd name="adj" fmla="val 236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Carteras título"/>
          <p:cNvSpPr txBox="1"/>
          <p:nvPr/>
        </p:nvSpPr>
        <p:spPr>
          <a:xfrm>
            <a:off x="868680" y="167335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% de carteras que no recuperan lo invertido</a:t>
            </a:r>
            <a:endParaRPr lang="en-US" sz="1800" dirty="0"/>
          </a:p>
        </p:txBody>
      </p:sp>
      <p:sp>
        <p:nvSpPr>
          <p:cNvPr id="7" name="Carteras subtítulo"/>
          <p:cNvSpPr txBox="1"/>
          <p:nvPr/>
        </p:nvSpPr>
        <p:spPr>
          <a:xfrm>
            <a:off x="868680" y="2075688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10.000 simulaciones por opción, con películas desde 2000</a:t>
            </a:r>
            <a:endParaRPr lang="en-US" sz="1300" dirty="0"/>
          </a:p>
        </p:txBody>
      </p:sp>
      <p:graphicFrame>
        <p:nvGraphicFramePr>
          <p:cNvPr id="8" name="Gráfica carteras"/>
          <p:cNvGraphicFramePr/>
          <p:nvPr/>
        </p:nvGraphicFramePr>
        <p:xfrm>
          <a:off x="731520" y="2468880"/>
          <a:ext cx="62636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Carteras nota"/>
          <p:cNvSpPr txBox="1"/>
          <p:nvPr/>
        </p:nvSpPr>
        <p:spPr>
          <a:xfrm>
            <a:off x="868680" y="557784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Remuestreo: no está en las guías del curso; lo usamos como algo descriptivo</a:t>
            </a:r>
            <a:endParaRPr lang="en-US" sz="1200" dirty="0"/>
          </a:p>
        </p:txBody>
      </p:sp>
      <p:sp>
        <p:nvSpPr>
          <p:cNvPr id="10" name="Comparación 1"/>
          <p:cNvSpPr/>
          <p:nvPr/>
        </p:nvSpPr>
        <p:spPr>
          <a:xfrm>
            <a:off x="7452360" y="1417320"/>
            <a:ext cx="4190695" cy="2258568"/>
          </a:xfrm>
          <a:prstGeom prst="roundRect">
            <a:avLst>
              <a:gd name="adj" fmla="val 485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Comparación 1 encabezado"/>
          <p:cNvSpPr txBox="1"/>
          <p:nvPr/>
        </p:nvSpPr>
        <p:spPr>
          <a:xfrm>
            <a:off x="7726680" y="1645920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Hasta 15 M · % de rentables por género</a:t>
            </a:r>
            <a:endParaRPr lang="en-US" sz="1400" dirty="0"/>
          </a:p>
        </p:txBody>
      </p:sp>
      <p:sp>
        <p:nvSpPr>
          <p:cNvPr id="12" name="Comparación 1.1 valor"/>
          <p:cNvSpPr txBox="1"/>
          <p:nvPr/>
        </p:nvSpPr>
        <p:spPr>
          <a:xfrm>
            <a:off x="7726680" y="2103120"/>
            <a:ext cx="1821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82,7 %</a:t>
            </a:r>
            <a:endParaRPr lang="en-US" sz="3600" dirty="0"/>
          </a:p>
        </p:txBody>
      </p:sp>
      <p:sp>
        <p:nvSpPr>
          <p:cNvPr id="13" name="Comparación 1.1 etiqueta"/>
          <p:cNvSpPr txBox="1"/>
          <p:nvPr/>
        </p:nvSpPr>
        <p:spPr>
          <a:xfrm>
            <a:off x="7726680" y="2880360"/>
            <a:ext cx="1821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terror</a:t>
            </a:r>
            <a:endParaRPr lang="en-US" sz="1400" dirty="0"/>
          </a:p>
        </p:txBody>
      </p:sp>
      <p:sp>
        <p:nvSpPr>
          <p:cNvPr id="14" name="Comparación 1.2 valor"/>
          <p:cNvSpPr txBox="1"/>
          <p:nvPr/>
        </p:nvSpPr>
        <p:spPr>
          <a:xfrm>
            <a:off x="9547708" y="2103120"/>
            <a:ext cx="1821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51,5 %</a:t>
            </a:r>
            <a:endParaRPr lang="en-US" sz="3600" dirty="0"/>
          </a:p>
        </p:txBody>
      </p:sp>
      <p:sp>
        <p:nvSpPr>
          <p:cNvPr id="15" name="Comparación 1.2 etiqueta"/>
          <p:cNvSpPr txBox="1"/>
          <p:nvPr/>
        </p:nvSpPr>
        <p:spPr>
          <a:xfrm>
            <a:off x="9547708" y="2880360"/>
            <a:ext cx="1821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otros géneros</a:t>
            </a:r>
            <a:endParaRPr lang="en-US" sz="1400" dirty="0"/>
          </a:p>
        </p:txBody>
      </p:sp>
      <p:sp>
        <p:nvSpPr>
          <p:cNvPr id="16" name="Comparación 2"/>
          <p:cNvSpPr/>
          <p:nvPr/>
        </p:nvSpPr>
        <p:spPr>
          <a:xfrm>
            <a:off x="7452360" y="3794760"/>
            <a:ext cx="4190695" cy="2258568"/>
          </a:xfrm>
          <a:prstGeom prst="roundRect">
            <a:avLst>
              <a:gd name="adj" fmla="val 485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Comparación 2 encabezado"/>
          <p:cNvSpPr txBox="1"/>
          <p:nvPr/>
        </p:nvSpPr>
        <p:spPr>
          <a:xfrm>
            <a:off x="7726680" y="4023360"/>
            <a:ext cx="3642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Hasta 15 M · % de rentables por fecha</a:t>
            </a:r>
            <a:endParaRPr lang="en-US" sz="1400" dirty="0"/>
          </a:p>
        </p:txBody>
      </p:sp>
      <p:sp>
        <p:nvSpPr>
          <p:cNvPr id="18" name="Comparación 2.1 valor"/>
          <p:cNvSpPr txBox="1"/>
          <p:nvPr/>
        </p:nvSpPr>
        <p:spPr>
          <a:xfrm>
            <a:off x="7726680" y="4480560"/>
            <a:ext cx="1821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52,7 %</a:t>
            </a:r>
            <a:endParaRPr lang="en-US" sz="3600" dirty="0"/>
          </a:p>
        </p:txBody>
      </p:sp>
      <p:sp>
        <p:nvSpPr>
          <p:cNvPr id="19" name="Comparación 2.1 etiqueta"/>
          <p:cNvSpPr txBox="1"/>
          <p:nvPr/>
        </p:nvSpPr>
        <p:spPr>
          <a:xfrm>
            <a:off x="7726680" y="5257800"/>
            <a:ext cx="1821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temporada alta</a:t>
            </a:r>
            <a:endParaRPr lang="en-US" sz="1400" dirty="0"/>
          </a:p>
        </p:txBody>
      </p:sp>
      <p:sp>
        <p:nvSpPr>
          <p:cNvPr id="20" name="Comparación 2.2 valor"/>
          <p:cNvSpPr txBox="1"/>
          <p:nvPr/>
        </p:nvSpPr>
        <p:spPr>
          <a:xfrm>
            <a:off x="9547708" y="4480560"/>
            <a:ext cx="18210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56,7 %</a:t>
            </a:r>
            <a:endParaRPr lang="en-US" sz="3600" dirty="0"/>
          </a:p>
        </p:txBody>
      </p:sp>
      <p:sp>
        <p:nvSpPr>
          <p:cNvPr id="21" name="Comparación 2.2 etiqueta"/>
          <p:cNvSpPr txBox="1"/>
          <p:nvPr/>
        </p:nvSpPr>
        <p:spPr>
          <a:xfrm>
            <a:off x="9547708" y="5257800"/>
            <a:ext cx="18210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resto del año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594B9896-2653-72EC-3063-A31815776D6B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Cuatro decisiones para la productora</a:t>
            </a:r>
            <a:endParaRPr lang="en-US" sz="3000" dirty="0"/>
          </a:p>
        </p:txBody>
      </p:sp>
      <p:sp>
        <p:nvSpPr>
          <p:cNvPr id="5" name="Decisión 1"/>
          <p:cNvSpPr/>
          <p:nvPr/>
        </p:nvSpPr>
        <p:spPr>
          <a:xfrm>
            <a:off x="548640" y="1417320"/>
            <a:ext cx="5410048" cy="2212848"/>
          </a:xfrm>
          <a:prstGeom prst="roundRect">
            <a:avLst>
              <a:gd name="adj" fmla="val 495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Decisión 1 círculo"/>
          <p:cNvSpPr/>
          <p:nvPr/>
        </p:nvSpPr>
        <p:spPr>
          <a:xfrm>
            <a:off x="822960" y="170992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Decisión 1 número"/>
          <p:cNvSpPr txBox="1"/>
          <p:nvPr/>
        </p:nvSpPr>
        <p:spPr>
          <a:xfrm>
            <a:off x="822960" y="1709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Decisión 1 texto"/>
          <p:cNvSpPr txBox="1"/>
          <p:nvPr/>
        </p:nvSpPr>
        <p:spPr>
          <a:xfrm>
            <a:off x="1600200" y="1645920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Repartir la plata en varias películas pequeñas</a:t>
            </a:r>
            <a:endParaRPr lang="en-US" sz="1900" dirty="0"/>
          </a:p>
        </p:txBody>
      </p:sp>
      <p:sp>
        <p:nvSpPr>
          <p:cNvPr id="9" name="Decisión 1 evidencia"/>
          <p:cNvSpPr txBox="1"/>
          <p:nvPr/>
        </p:nvSpPr>
        <p:spPr>
          <a:xfrm>
            <a:off x="1600200" y="2423160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Cuatro de 5 a 10 M no recuperan lo invertido en el 7,5 % de las simulaciones; una de 25 a 35 M, en el 26,6 %</a:t>
            </a:r>
            <a:endParaRPr lang="en-US" sz="1400" dirty="0"/>
          </a:p>
        </p:txBody>
      </p:sp>
      <p:sp>
        <p:nvSpPr>
          <p:cNvPr id="10" name="Decisión 1 tipo"/>
          <p:cNvSpPr txBox="1"/>
          <p:nvPr/>
        </p:nvSpPr>
        <p:spPr>
          <a:xfrm>
            <a:off x="1600200" y="3172968"/>
            <a:ext cx="408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Prueba H1 + simulación</a:t>
            </a:r>
            <a:endParaRPr lang="en-US" sz="1200" dirty="0"/>
          </a:p>
        </p:txBody>
      </p:sp>
      <p:sp>
        <p:nvSpPr>
          <p:cNvPr id="11" name="Decisión 2"/>
          <p:cNvSpPr/>
          <p:nvPr/>
        </p:nvSpPr>
        <p:spPr>
          <a:xfrm>
            <a:off x="6233008" y="1417320"/>
            <a:ext cx="5410048" cy="2212848"/>
          </a:xfrm>
          <a:prstGeom prst="roundRect">
            <a:avLst>
              <a:gd name="adj" fmla="val 495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Decisión 2 círculo"/>
          <p:cNvSpPr/>
          <p:nvPr/>
        </p:nvSpPr>
        <p:spPr>
          <a:xfrm>
            <a:off x="6507328" y="170992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Decisión 2 número"/>
          <p:cNvSpPr txBox="1"/>
          <p:nvPr/>
        </p:nvSpPr>
        <p:spPr>
          <a:xfrm>
            <a:off x="6507328" y="1709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Decisión 2 texto"/>
          <p:cNvSpPr txBox="1"/>
          <p:nvPr/>
        </p:nvSpPr>
        <p:spPr>
          <a:xfrm>
            <a:off x="7284568" y="1645920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Darle prioridad al terror con presupuesto bajo</a:t>
            </a:r>
            <a:endParaRPr lang="en-US" sz="1900" dirty="0"/>
          </a:p>
        </p:txBody>
      </p:sp>
      <p:sp>
        <p:nvSpPr>
          <p:cNvPr id="15" name="Decisión 2 evidencia"/>
          <p:cNvSpPr txBox="1"/>
          <p:nvPr/>
        </p:nvSpPr>
        <p:spPr>
          <a:xfrm>
            <a:off x="7284568" y="2423160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Hasta 15 M: 82,7 % de rentables frente al 51,5 % de los demás géneros (p = 3,5 × 10⁻⁷)</a:t>
            </a:r>
            <a:endParaRPr lang="en-US" sz="1400" dirty="0"/>
          </a:p>
        </p:txBody>
      </p:sp>
      <p:sp>
        <p:nvSpPr>
          <p:cNvPr id="16" name="Decisión 2 tipo"/>
          <p:cNvSpPr txBox="1"/>
          <p:nvPr/>
        </p:nvSpPr>
        <p:spPr>
          <a:xfrm>
            <a:off x="7284568" y="3172968"/>
            <a:ext cx="408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Prueba H3</a:t>
            </a:r>
            <a:endParaRPr lang="en-US" sz="1200" dirty="0"/>
          </a:p>
        </p:txBody>
      </p:sp>
      <p:sp>
        <p:nvSpPr>
          <p:cNvPr id="17" name="Decisión 3"/>
          <p:cNvSpPr/>
          <p:nvPr/>
        </p:nvSpPr>
        <p:spPr>
          <a:xfrm>
            <a:off x="548640" y="3794760"/>
            <a:ext cx="5410048" cy="2212848"/>
          </a:xfrm>
          <a:prstGeom prst="roundRect">
            <a:avLst>
              <a:gd name="adj" fmla="val 495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Decisión 3 círculo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Decisión 3 número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Decisión 3 texto"/>
          <p:cNvSpPr txBox="1"/>
          <p:nvPr/>
        </p:nvSpPr>
        <p:spPr>
          <a:xfrm>
            <a:off x="1600200" y="4023360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No pagar de más por la temporada alta si la película es pequeña</a:t>
            </a:r>
            <a:endParaRPr lang="en-US" sz="1900" dirty="0"/>
          </a:p>
        </p:txBody>
      </p:sp>
      <p:sp>
        <p:nvSpPr>
          <p:cNvPr id="21" name="Decisión 3 evidencia"/>
          <p:cNvSpPr txBox="1"/>
          <p:nvPr/>
        </p:nvSpPr>
        <p:spPr>
          <a:xfrm>
            <a:off x="1600200" y="4800600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Hasta 15 M: 0,89x (p = 0,470). De 30 M para arriba sí ayuda: 1,28x y 1,24x</a:t>
            </a:r>
            <a:endParaRPr lang="en-US" sz="1400" dirty="0"/>
          </a:p>
        </p:txBody>
      </p:sp>
      <p:sp>
        <p:nvSpPr>
          <p:cNvPr id="22" name="Decisión 3 tipo"/>
          <p:cNvSpPr txBox="1"/>
          <p:nvPr/>
        </p:nvSpPr>
        <p:spPr>
          <a:xfrm>
            <a:off x="1600200" y="5550408"/>
            <a:ext cx="408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Prueba H2 por presupuesto</a:t>
            </a:r>
            <a:endParaRPr lang="en-US" sz="1200" dirty="0"/>
          </a:p>
        </p:txBody>
      </p:sp>
      <p:sp>
        <p:nvSpPr>
          <p:cNvPr id="23" name="Decisión 4"/>
          <p:cNvSpPr/>
          <p:nvPr/>
        </p:nvSpPr>
        <p:spPr>
          <a:xfrm>
            <a:off x="6233008" y="3794760"/>
            <a:ext cx="5410048" cy="2212848"/>
          </a:xfrm>
          <a:prstGeom prst="roundRect">
            <a:avLst>
              <a:gd name="adj" fmla="val 495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Decisión 4 círculo"/>
          <p:cNvSpPr/>
          <p:nvPr/>
        </p:nvSpPr>
        <p:spPr>
          <a:xfrm>
            <a:off x="6507328" y="408736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Decisión 4 número"/>
          <p:cNvSpPr txBox="1"/>
          <p:nvPr/>
        </p:nvSpPr>
        <p:spPr>
          <a:xfrm>
            <a:off x="6507328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Decisión 4 texto"/>
          <p:cNvSpPr txBox="1"/>
          <p:nvPr/>
        </p:nvSpPr>
        <p:spPr>
          <a:xfrm>
            <a:off x="7284568" y="4023360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Medir el éxito por retorno y riesgo, no por recaudación</a:t>
            </a:r>
            <a:endParaRPr lang="en-US" sz="1900" dirty="0"/>
          </a:p>
        </p:txBody>
      </p:sp>
      <p:sp>
        <p:nvSpPr>
          <p:cNvPr id="27" name="Decisión 4 evidencia"/>
          <p:cNvSpPr txBox="1"/>
          <p:nvPr/>
        </p:nvSpPr>
        <p:spPr>
          <a:xfrm>
            <a:off x="7284568" y="4800600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Acción se lleva el 24,1 % de la taquilla, pero su ROI mediano (87,9 %) queda debajo del total (115,3 %)</a:t>
            </a:r>
            <a:endParaRPr lang="en-US" sz="1400" dirty="0"/>
          </a:p>
        </p:txBody>
      </p:sp>
      <p:sp>
        <p:nvSpPr>
          <p:cNvPr id="28" name="Decisión 4 tipo"/>
          <p:cNvSpPr txBox="1"/>
          <p:nvPr/>
        </p:nvSpPr>
        <p:spPr>
          <a:xfrm>
            <a:off x="7284568" y="5550408"/>
            <a:ext cx="408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Descriptiva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30" name="Marcador de texto 29">
            <a:extLst>
              <a:ext uri="{FF2B5EF4-FFF2-40B4-BE49-F238E27FC236}">
                <a16:creationId xmlns:a16="http://schemas.microsoft.com/office/drawing/2014/main" id="{D6A552A5-A3F0-EFBF-CEBA-1FF25BF0EAD9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quedarnos con el primer resultado</a:t>
            </a:r>
            <a:endParaRPr lang="en-US" sz="3200" dirty="0"/>
          </a:p>
        </p:txBody>
      </p:sp>
      <p:sp>
        <p:nvSpPr>
          <p:cNvPr id="5" name="Límites título"/>
          <p:cNvSpPr txBox="1"/>
          <p:nvPr/>
        </p:nvSpPr>
        <p:spPr>
          <a:xfrm>
            <a:off x="548640" y="1417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Hasta dónde llegan los resultados</a:t>
            </a:r>
            <a:endParaRPr lang="en-US" sz="1800" dirty="0"/>
          </a:p>
        </p:txBody>
      </p:sp>
      <p:sp>
        <p:nvSpPr>
          <p:cNvPr id="6" name="Límites lista"/>
          <p:cNvSpPr txBox="1"/>
          <p:nvPr/>
        </p:nvSpPr>
        <p:spPr>
          <a:xfrm>
            <a:off x="548640" y="196596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Son datos observados: hablamos de asociación, no de causa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Solo películas que reportaron cifras; las pequeñas que fracasaron aparecen menos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Dólares nominales y taquilla: no es ganancia neta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El 95,3 % es cine en inglés: no se pasa tal cual al mercado colombiano</a:t>
            </a:r>
            <a:endParaRPr lang="en-US" sz="1600" dirty="0"/>
          </a:p>
        </p:txBody>
      </p:sp>
      <p:sp>
        <p:nvSpPr>
          <p:cNvPr id="7" name="Aprendizaje"/>
          <p:cNvSpPr/>
          <p:nvPr/>
        </p:nvSpPr>
        <p:spPr>
          <a:xfrm>
            <a:off x="6720840" y="1417320"/>
            <a:ext cx="4922215" cy="3017520"/>
          </a:xfrm>
          <a:prstGeom prst="roundRect">
            <a:avLst>
              <a:gd name="adj" fmla="val 424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Aprendizaje texto"/>
          <p:cNvSpPr txBox="1"/>
          <p:nvPr/>
        </p:nvSpPr>
        <p:spPr>
          <a:xfrm>
            <a:off x="7040880" y="1691640"/>
            <a:ext cx="428213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chemeClr val="bg1"/>
                </a:solidFill>
              </a:rPr>
              <a:t>Lo del presupuesto parecía clarísimo y era un efecto de mezclar épocas. Revisar por periodo, por tamaño y por magnitud del efecto, y no solo el valor p, nos cambió las recomendaciones.</a:t>
            </a:r>
            <a:endParaRPr lang="en-US" sz="1900" dirty="0"/>
          </a:p>
        </p:txBody>
      </p:sp>
      <p:sp>
        <p:nvSpPr>
          <p:cNvPr id="9" name="Gracias"/>
          <p:cNvSpPr txBox="1"/>
          <p:nvPr/>
        </p:nvSpPr>
        <p:spPr>
          <a:xfrm>
            <a:off x="6720840" y="4709160"/>
            <a:ext cx="4922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Muchas gracias</a:t>
            </a:r>
            <a:endParaRPr lang="en-US" sz="3200" dirty="0"/>
          </a:p>
        </p:txBody>
      </p:sp>
      <p:sp>
        <p:nvSpPr>
          <p:cNvPr id="10" name="Repositorio"/>
          <p:cNvSpPr txBox="1"/>
          <p:nvPr/>
        </p:nvSpPr>
        <p:spPr>
          <a:xfrm>
            <a:off x="6720840" y="5394960"/>
            <a:ext cx="4922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github.com/JulianHZ711/analisis-datos-evento-3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27648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C9A42B7F-ED7D-8431-91B6-F382EE7985D7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liculas equipo 6">
  <a:themeElements>
    <a:clrScheme name="Peliculas equipo 6">
      <a:dk1>
        <a:srgbClr val="17324D"/>
      </a:dk1>
      <a:lt1>
        <a:srgbClr val="FFFFFF"/>
      </a:lt1>
      <a:dk2>
        <a:srgbClr val="526579"/>
      </a:dk2>
      <a:lt2>
        <a:srgbClr val="F3F6FA"/>
      </a:lt2>
      <a:accent1>
        <a:srgbClr val="087F8C"/>
      </a:accent1>
      <a:accent2>
        <a:srgbClr val="A0AEC0"/>
      </a:accent2>
      <a:accent3>
        <a:srgbClr val="916313"/>
      </a:accent3>
      <a:accent4>
        <a:srgbClr val="24476A"/>
      </a:accent4>
      <a:accent5>
        <a:srgbClr val="5FA8B0"/>
      </a:accent5>
      <a:accent6>
        <a:srgbClr val="DCE4ED"/>
      </a:accent6>
      <a:hlink>
        <a:srgbClr val="087F8C"/>
      </a:hlink>
      <a:folHlink>
        <a:srgbClr val="526579"/>
      </a:folHlink>
    </a:clrScheme>
    <a:fontScheme name="Peliculas equipo 6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3130</Words>
  <Application>Microsoft Office PowerPoint</Application>
  <PresentationFormat>Panorámica</PresentationFormat>
  <Paragraphs>233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Consolas</vt:lpstr>
      <vt:lpstr>Segoe UI</vt:lpstr>
      <vt:lpstr>Segoe UI Semibold</vt:lpstr>
      <vt:lpstr>Peliculas equipo 6</vt:lpstr>
      <vt:lpstr>¿En qué películas debería invertir una productora con poca plata?</vt:lpstr>
      <vt:lpstr>El cine es un negocio de alto riesgo</vt:lpstr>
      <vt:lpstr>Tres decisiones, tres preguntas, tres hipótesis</vt:lpstr>
      <vt:lpstr>TMDB 5000: los ceros no son películas gratis</vt:lpstr>
      <vt:lpstr>De 4.803 a 2.265 películas confiables</vt:lpstr>
      <vt:lpstr>H1 · Más presupuesto no rinde más por dólar</vt:lpstr>
      <vt:lpstr>H2 · La temporada alta ayuda a las películas grandes</vt:lpstr>
      <vt:lpstr>H3 · Solo el terror se despega</vt:lpstr>
      <vt:lpstr>Seis KPIs: retorno, riesgo y escala</vt:lpstr>
      <vt:lpstr>Del modelo estrella a las medidas DAX</vt:lpstr>
      <vt:lpstr>Con poco capital, diversificar protege</vt:lpstr>
      <vt:lpstr>Cuatro decisiones para la productora</vt:lpstr>
      <vt:lpstr>No quedarnos con el primer resultado</vt:lpstr>
    </vt:vector>
  </TitlesOfParts>
  <Company>ITM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Películas: diapositivas del video</dc:title>
  <dc:subject>Análisis de Datos · Evento evaluativo 3</dc:subject>
  <dc:creator>Equipo 6</dc:creator>
  <cp:lastModifiedBy>Pineda, Oscar</cp:lastModifiedBy>
  <cp:revision>2</cp:revision>
  <dcterms:created xsi:type="dcterms:W3CDTF">2026-10-22T01:32:36Z</dcterms:created>
  <dcterms:modified xsi:type="dcterms:W3CDTF">2026-10-23T13:38:16Z</dcterms:modified>
</cp:coreProperties>
</file>